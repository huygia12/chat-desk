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  <p:sldMasterId id="2147483696" r:id="rId4"/>
    <p:sldMasterId id="2147483698" r:id="rId5"/>
    <p:sldMasterId id="2147483700" r:id="rId6"/>
    <p:sldMasterId id="2147483717" r:id="rId7"/>
  </p:sldMasterIdLst>
  <p:notesMasterIdLst>
    <p:notesMasterId r:id="rId42"/>
  </p:notesMasterIdLst>
  <p:sldIdLst>
    <p:sldId id="362" r:id="rId8"/>
    <p:sldId id="258" r:id="rId9"/>
    <p:sldId id="363" r:id="rId10"/>
    <p:sldId id="309" r:id="rId11"/>
    <p:sldId id="365" r:id="rId12"/>
    <p:sldId id="366" r:id="rId13"/>
    <p:sldId id="377" r:id="rId14"/>
    <p:sldId id="368" r:id="rId15"/>
    <p:sldId id="367" r:id="rId16"/>
    <p:sldId id="380" r:id="rId17"/>
    <p:sldId id="378" r:id="rId18"/>
    <p:sldId id="379" r:id="rId19"/>
    <p:sldId id="371" r:id="rId20"/>
    <p:sldId id="373" r:id="rId21"/>
    <p:sldId id="395" r:id="rId22"/>
    <p:sldId id="396" r:id="rId23"/>
    <p:sldId id="385" r:id="rId24"/>
    <p:sldId id="394" r:id="rId25"/>
    <p:sldId id="374" r:id="rId26"/>
    <p:sldId id="359" r:id="rId27"/>
    <p:sldId id="401" r:id="rId28"/>
    <p:sldId id="404" r:id="rId29"/>
    <p:sldId id="405" r:id="rId30"/>
    <p:sldId id="406" r:id="rId31"/>
    <p:sldId id="398" r:id="rId32"/>
    <p:sldId id="381" r:id="rId33"/>
    <p:sldId id="383" r:id="rId34"/>
    <p:sldId id="386" r:id="rId35"/>
    <p:sldId id="375" r:id="rId36"/>
    <p:sldId id="390" r:id="rId37"/>
    <p:sldId id="391" r:id="rId38"/>
    <p:sldId id="392" r:id="rId39"/>
    <p:sldId id="393" r:id="rId40"/>
    <p:sldId id="26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F68"/>
    <a:srgbClr val="5A5A5A"/>
    <a:srgbClr val="EE302A"/>
    <a:srgbClr val="EE2E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5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38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tableStyles" Target="tableStyles.xml"/><Relationship Id="rId20" Type="http://schemas.openxmlformats.org/officeDocument/2006/relationships/slide" Target="slides/slide13.xml"/><Relationship Id="rId41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841218-5D18-43EF-9CFE-15C3ABE5FCB7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4" name="Graphic 3">
              <a:extLst>
                <a:ext uri="{FF2B5EF4-FFF2-40B4-BE49-F238E27FC236}">
                  <a16:creationId xmlns:a16="http://schemas.microsoft.com/office/drawing/2014/main" id="{EA5439F7-D0CC-4B7D-B19D-62343F761B82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AF06189-971B-419B-BF86-29E2312780F5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BD236EEA-52A9-4932-81B3-C7515A13FA4A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2DBFA45A-9D3D-4582-BF38-078D016EBF69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1BE8027-90AC-4EB3-BA8B-6D075C42A87F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496AA96-A4DD-49E3-B33A-A519EAA5D432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68EB801-EAE0-4059-8C74-33FDEA5D74A2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CFE2205-9474-432A-9661-26F5093A05B5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F1E9E70-F675-45C1-A3A5-E59785E2FC74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EFF0DC8-7C66-4067-B4DA-D79027D216F6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2DC4EB7-2F7C-412B-9DD1-9BACE9948C80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907F3CB-BD26-460C-A9FD-DC785EB21188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978C2DE-4AEF-455C-9ED3-4D1D9BDC0E7B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CA0A2E8-BDF1-43FE-930F-768D23B9E0E7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A8BA19-4C03-4A99-85D7-3512B69E819B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2E42FB9-3D87-4FCF-9D47-44E546189DD7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53081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EC0E1773-502B-436D-A3C4-742C1B4B1B87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0"/>
            <a:ext cx="12192000" cy="32939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96B66-6CD8-43CC-B114-03185F708D29}"/>
              </a:ext>
            </a:extLst>
          </p:cNvPr>
          <p:cNvGrpSpPr/>
          <p:nvPr userDrawn="1"/>
        </p:nvGrpSpPr>
        <p:grpSpPr>
          <a:xfrm>
            <a:off x="217010" y="5986664"/>
            <a:ext cx="11787886" cy="686721"/>
            <a:chOff x="217009" y="5981470"/>
            <a:chExt cx="11877043" cy="691915"/>
          </a:xfrm>
          <a:solidFill>
            <a:schemeClr val="accent4"/>
          </a:solidFill>
        </p:grpSpPr>
        <p:grpSp>
          <p:nvGrpSpPr>
            <p:cNvPr id="5" name="Graphic 3">
              <a:extLst>
                <a:ext uri="{FF2B5EF4-FFF2-40B4-BE49-F238E27FC236}">
                  <a16:creationId xmlns:a16="http://schemas.microsoft.com/office/drawing/2014/main" id="{FCC7DBE5-BD63-4BEB-B29A-179290B19823}"/>
                </a:ext>
              </a:extLst>
            </p:cNvPr>
            <p:cNvGrpSpPr/>
            <p:nvPr/>
          </p:nvGrpSpPr>
          <p:grpSpPr>
            <a:xfrm>
              <a:off x="8701032" y="5981470"/>
              <a:ext cx="3393020" cy="691915"/>
              <a:chOff x="4666" y="2186177"/>
              <a:chExt cx="12179332" cy="2483649"/>
            </a:xfrm>
            <a:grpFill/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23464185-8AAC-47C9-A6E9-82EED06D420D}"/>
                  </a:ext>
                </a:extLst>
              </p:cNvPr>
              <p:cNvSpPr/>
              <p:nvPr/>
            </p:nvSpPr>
            <p:spPr>
              <a:xfrm>
                <a:off x="4666" y="2186177"/>
                <a:ext cx="12179332" cy="2391650"/>
              </a:xfrm>
              <a:custGeom>
                <a:avLst/>
                <a:gdLst>
                  <a:gd name="connsiteX0" fmla="*/ 11651647 w 12179332"/>
                  <a:gd name="connsiteY0" fmla="*/ 2194846 h 2391650"/>
                  <a:gd name="connsiteX1" fmla="*/ 11651647 w 12179332"/>
                  <a:gd name="connsiteY1" fmla="*/ 1418654 h 2391650"/>
                  <a:gd name="connsiteX2" fmla="*/ 11901201 w 12179332"/>
                  <a:gd name="connsiteY2" fmla="*/ 1418654 h 2391650"/>
                  <a:gd name="connsiteX3" fmla="*/ 11902630 w 12179332"/>
                  <a:gd name="connsiteY3" fmla="*/ 1406176 h 2391650"/>
                  <a:gd name="connsiteX4" fmla="*/ 10870120 w 12179332"/>
                  <a:gd name="connsiteY4" fmla="*/ 590645 h 2391650"/>
                  <a:gd name="connsiteX5" fmla="*/ 10811161 w 12179332"/>
                  <a:gd name="connsiteY5" fmla="*/ 638747 h 2391650"/>
                  <a:gd name="connsiteX6" fmla="*/ 9976580 w 12179332"/>
                  <a:gd name="connsiteY6" fmla="*/ 1323689 h 2391650"/>
                  <a:gd name="connsiteX7" fmla="*/ 9901714 w 12179332"/>
                  <a:gd name="connsiteY7" fmla="*/ 1359980 h 2391650"/>
                  <a:gd name="connsiteX8" fmla="*/ 8941403 w 12179332"/>
                  <a:gd name="connsiteY8" fmla="*/ 1551527 h 2391650"/>
                  <a:gd name="connsiteX9" fmla="*/ 8898160 w 12179332"/>
                  <a:gd name="connsiteY9" fmla="*/ 1603343 h 2391650"/>
                  <a:gd name="connsiteX10" fmla="*/ 8901589 w 12179332"/>
                  <a:gd name="connsiteY10" fmla="*/ 2131124 h 2391650"/>
                  <a:gd name="connsiteX11" fmla="*/ 8901589 w 12179332"/>
                  <a:gd name="connsiteY11" fmla="*/ 2188274 h 2391650"/>
                  <a:gd name="connsiteX12" fmla="*/ 8461915 w 12179332"/>
                  <a:gd name="connsiteY12" fmla="*/ 2188274 h 2391650"/>
                  <a:gd name="connsiteX13" fmla="*/ 8423339 w 12179332"/>
                  <a:gd name="connsiteY13" fmla="*/ 1966246 h 2391650"/>
                  <a:gd name="connsiteX14" fmla="*/ 8452675 w 12179332"/>
                  <a:gd name="connsiteY14" fmla="*/ 1900333 h 2391650"/>
                  <a:gd name="connsiteX15" fmla="*/ 8553069 w 12179332"/>
                  <a:gd name="connsiteY15" fmla="*/ 1778699 h 2391650"/>
                  <a:gd name="connsiteX16" fmla="*/ 8608695 w 12179332"/>
                  <a:gd name="connsiteY16" fmla="*/ 1726121 h 2391650"/>
                  <a:gd name="connsiteX17" fmla="*/ 8733853 w 12179332"/>
                  <a:gd name="connsiteY17" fmla="*/ 1267587 h 2391650"/>
                  <a:gd name="connsiteX18" fmla="*/ 8708517 w 12179332"/>
                  <a:gd name="connsiteY18" fmla="*/ 1185005 h 2391650"/>
                  <a:gd name="connsiteX19" fmla="*/ 8716328 w 12179332"/>
                  <a:gd name="connsiteY19" fmla="*/ 1053179 h 2391650"/>
                  <a:gd name="connsiteX20" fmla="*/ 8494109 w 12179332"/>
                  <a:gd name="connsiteY20" fmla="*/ 851630 h 2391650"/>
                  <a:gd name="connsiteX21" fmla="*/ 8448961 w 12179332"/>
                  <a:gd name="connsiteY21" fmla="*/ 816578 h 2391650"/>
                  <a:gd name="connsiteX22" fmla="*/ 8400098 w 12179332"/>
                  <a:gd name="connsiteY22" fmla="*/ 714566 h 2391650"/>
                  <a:gd name="connsiteX23" fmla="*/ 8098917 w 12179332"/>
                  <a:gd name="connsiteY23" fmla="*/ 637604 h 2391650"/>
                  <a:gd name="connsiteX24" fmla="*/ 7970425 w 12179332"/>
                  <a:gd name="connsiteY24" fmla="*/ 878586 h 2391650"/>
                  <a:gd name="connsiteX25" fmla="*/ 7952994 w 12179332"/>
                  <a:gd name="connsiteY25" fmla="*/ 924592 h 2391650"/>
                  <a:gd name="connsiteX26" fmla="*/ 7851267 w 12179332"/>
                  <a:gd name="connsiteY26" fmla="*/ 1332833 h 2391650"/>
                  <a:gd name="connsiteX27" fmla="*/ 7837361 w 12179332"/>
                  <a:gd name="connsiteY27" fmla="*/ 1425416 h 2391650"/>
                  <a:gd name="connsiteX28" fmla="*/ 7801261 w 12179332"/>
                  <a:gd name="connsiteY28" fmla="*/ 1727549 h 2391650"/>
                  <a:gd name="connsiteX29" fmla="*/ 8084058 w 12179332"/>
                  <a:gd name="connsiteY29" fmla="*/ 1845564 h 2391650"/>
                  <a:gd name="connsiteX30" fmla="*/ 8201311 w 12179332"/>
                  <a:gd name="connsiteY30" fmla="*/ 1934528 h 2391650"/>
                  <a:gd name="connsiteX31" fmla="*/ 8175213 w 12179332"/>
                  <a:gd name="connsiteY31" fmla="*/ 2169033 h 2391650"/>
                  <a:gd name="connsiteX32" fmla="*/ 7709631 w 12179332"/>
                  <a:gd name="connsiteY32" fmla="*/ 2185702 h 2391650"/>
                  <a:gd name="connsiteX33" fmla="*/ 7589615 w 12179332"/>
                  <a:gd name="connsiteY33" fmla="*/ 2032064 h 2391650"/>
                  <a:gd name="connsiteX34" fmla="*/ 7588568 w 12179332"/>
                  <a:gd name="connsiteY34" fmla="*/ 2027587 h 2391650"/>
                  <a:gd name="connsiteX35" fmla="*/ 7493318 w 12179332"/>
                  <a:gd name="connsiteY35" fmla="*/ 1820894 h 2391650"/>
                  <a:gd name="connsiteX36" fmla="*/ 7271290 w 12179332"/>
                  <a:gd name="connsiteY36" fmla="*/ 1879473 h 2391650"/>
                  <a:gd name="connsiteX37" fmla="*/ 7245763 w 12179332"/>
                  <a:gd name="connsiteY37" fmla="*/ 1886903 h 2391650"/>
                  <a:gd name="connsiteX38" fmla="*/ 7105459 w 12179332"/>
                  <a:gd name="connsiteY38" fmla="*/ 2083784 h 2391650"/>
                  <a:gd name="connsiteX39" fmla="*/ 7135083 w 12179332"/>
                  <a:gd name="connsiteY39" fmla="*/ 2188083 h 2391650"/>
                  <a:gd name="connsiteX40" fmla="*/ 6971157 w 12179332"/>
                  <a:gd name="connsiteY40" fmla="*/ 2188464 h 2391650"/>
                  <a:gd name="connsiteX41" fmla="*/ 6930200 w 12179332"/>
                  <a:gd name="connsiteY41" fmla="*/ 2147030 h 2391650"/>
                  <a:gd name="connsiteX42" fmla="*/ 6927723 w 12179332"/>
                  <a:gd name="connsiteY42" fmla="*/ 1538383 h 2391650"/>
                  <a:gd name="connsiteX43" fmla="*/ 6930295 w 12179332"/>
                  <a:gd name="connsiteY43" fmla="*/ 1510665 h 2391650"/>
                  <a:gd name="connsiteX44" fmla="*/ 7198710 w 12179332"/>
                  <a:gd name="connsiteY44" fmla="*/ 1510665 h 2391650"/>
                  <a:gd name="connsiteX45" fmla="*/ 6094762 w 12179332"/>
                  <a:gd name="connsiteY45" fmla="*/ 504444 h 2391650"/>
                  <a:gd name="connsiteX46" fmla="*/ 5025295 w 12179332"/>
                  <a:gd name="connsiteY46" fmla="*/ 1505903 h 2391650"/>
                  <a:gd name="connsiteX47" fmla="*/ 5029962 w 12179332"/>
                  <a:gd name="connsiteY47" fmla="*/ 1521047 h 2391650"/>
                  <a:gd name="connsiteX48" fmla="*/ 5303615 w 12179332"/>
                  <a:gd name="connsiteY48" fmla="*/ 1521047 h 2391650"/>
                  <a:gd name="connsiteX49" fmla="*/ 5303615 w 12179332"/>
                  <a:gd name="connsiteY49" fmla="*/ 2192179 h 2391650"/>
                  <a:gd name="connsiteX50" fmla="*/ 5003769 w 12179332"/>
                  <a:gd name="connsiteY50" fmla="*/ 2192179 h 2391650"/>
                  <a:gd name="connsiteX51" fmla="*/ 5003769 w 12179332"/>
                  <a:gd name="connsiteY51" fmla="*/ 1556957 h 2391650"/>
                  <a:gd name="connsiteX52" fmla="*/ 4124801 w 12179332"/>
                  <a:gd name="connsiteY52" fmla="*/ 1556957 h 2391650"/>
                  <a:gd name="connsiteX53" fmla="*/ 4124801 w 12179332"/>
                  <a:gd name="connsiteY53" fmla="*/ 2200370 h 2391650"/>
                  <a:gd name="connsiteX54" fmla="*/ 3945350 w 12179332"/>
                  <a:gd name="connsiteY54" fmla="*/ 2190464 h 2391650"/>
                  <a:gd name="connsiteX55" fmla="*/ 3945350 w 12179332"/>
                  <a:gd name="connsiteY55" fmla="*/ 262128 h 2391650"/>
                  <a:gd name="connsiteX56" fmla="*/ 3627311 w 12179332"/>
                  <a:gd name="connsiteY56" fmla="*/ 262128 h 2391650"/>
                  <a:gd name="connsiteX57" fmla="*/ 3627311 w 12179332"/>
                  <a:gd name="connsiteY57" fmla="*/ 0 h 2391650"/>
                  <a:gd name="connsiteX58" fmla="*/ 2735771 w 12179332"/>
                  <a:gd name="connsiteY58" fmla="*/ 0 h 2391650"/>
                  <a:gd name="connsiteX59" fmla="*/ 2735771 w 12179332"/>
                  <a:gd name="connsiteY59" fmla="*/ 276892 h 2391650"/>
                  <a:gd name="connsiteX60" fmla="*/ 2417255 w 12179332"/>
                  <a:gd name="connsiteY60" fmla="*/ 260033 h 2391650"/>
                  <a:gd name="connsiteX61" fmla="*/ 2417255 w 12179332"/>
                  <a:gd name="connsiteY61" fmla="*/ 321945 h 2391650"/>
                  <a:gd name="connsiteX62" fmla="*/ 2420112 w 12179332"/>
                  <a:gd name="connsiteY62" fmla="*/ 1358456 h 2391650"/>
                  <a:gd name="connsiteX63" fmla="*/ 2338197 w 12179332"/>
                  <a:gd name="connsiteY63" fmla="*/ 1437704 h 2391650"/>
                  <a:gd name="connsiteX64" fmla="*/ 1938528 w 12179332"/>
                  <a:gd name="connsiteY64" fmla="*/ 1430941 h 2391650"/>
                  <a:gd name="connsiteX65" fmla="*/ 1865757 w 12179332"/>
                  <a:gd name="connsiteY65" fmla="*/ 1397508 h 2391650"/>
                  <a:gd name="connsiteX66" fmla="*/ 1428655 w 12179332"/>
                  <a:gd name="connsiteY66" fmla="*/ 882777 h 2391650"/>
                  <a:gd name="connsiteX67" fmla="*/ 1346168 w 12179332"/>
                  <a:gd name="connsiteY67" fmla="*/ 867251 h 2391650"/>
                  <a:gd name="connsiteX68" fmla="*/ 787241 w 12179332"/>
                  <a:gd name="connsiteY68" fmla="*/ 1141667 h 2391650"/>
                  <a:gd name="connsiteX69" fmla="*/ 721709 w 12179332"/>
                  <a:gd name="connsiteY69" fmla="*/ 1171385 h 2391650"/>
                  <a:gd name="connsiteX70" fmla="*/ 721709 w 12179332"/>
                  <a:gd name="connsiteY70" fmla="*/ 926878 h 2391650"/>
                  <a:gd name="connsiteX71" fmla="*/ 468154 w 12179332"/>
                  <a:gd name="connsiteY71" fmla="*/ 926878 h 2391650"/>
                  <a:gd name="connsiteX72" fmla="*/ 469487 w 12179332"/>
                  <a:gd name="connsiteY72" fmla="*/ 1217581 h 2391650"/>
                  <a:gd name="connsiteX73" fmla="*/ 411575 w 12179332"/>
                  <a:gd name="connsiteY73" fmla="*/ 1311593 h 2391650"/>
                  <a:gd name="connsiteX74" fmla="*/ 206312 w 12179332"/>
                  <a:gd name="connsiteY74" fmla="*/ 1421606 h 2391650"/>
                  <a:gd name="connsiteX75" fmla="*/ 66675 w 12179332"/>
                  <a:gd name="connsiteY75" fmla="*/ 1498283 h 2391650"/>
                  <a:gd name="connsiteX76" fmla="*/ 69056 w 12179332"/>
                  <a:gd name="connsiteY76" fmla="*/ 1506950 h 2391650"/>
                  <a:gd name="connsiteX77" fmla="*/ 340614 w 12179332"/>
                  <a:gd name="connsiteY77" fmla="*/ 1521238 h 2391650"/>
                  <a:gd name="connsiteX78" fmla="*/ 340614 w 12179332"/>
                  <a:gd name="connsiteY78" fmla="*/ 2185321 h 2391650"/>
                  <a:gd name="connsiteX79" fmla="*/ 284702 w 12179332"/>
                  <a:gd name="connsiteY79" fmla="*/ 2188845 h 2391650"/>
                  <a:gd name="connsiteX80" fmla="*/ 0 w 12179332"/>
                  <a:gd name="connsiteY80" fmla="*/ 2199704 h 2391650"/>
                  <a:gd name="connsiteX81" fmla="*/ 0 w 12179332"/>
                  <a:gd name="connsiteY81" fmla="*/ 2275808 h 2391650"/>
                  <a:gd name="connsiteX82" fmla="*/ 415290 w 12179332"/>
                  <a:gd name="connsiteY82" fmla="*/ 2275808 h 2391650"/>
                  <a:gd name="connsiteX83" fmla="*/ 415290 w 12179332"/>
                  <a:gd name="connsiteY83" fmla="*/ 1438751 h 2391650"/>
                  <a:gd name="connsiteX84" fmla="*/ 368713 w 12179332"/>
                  <a:gd name="connsiteY84" fmla="*/ 1427036 h 2391650"/>
                  <a:gd name="connsiteX85" fmla="*/ 482251 w 12179332"/>
                  <a:gd name="connsiteY85" fmla="*/ 1364456 h 2391650"/>
                  <a:gd name="connsiteX86" fmla="*/ 527114 w 12179332"/>
                  <a:gd name="connsiteY86" fmla="*/ 1286923 h 2391650"/>
                  <a:gd name="connsiteX87" fmla="*/ 526352 w 12179332"/>
                  <a:gd name="connsiteY87" fmla="*/ 1021271 h 2391650"/>
                  <a:gd name="connsiteX88" fmla="*/ 626554 w 12179332"/>
                  <a:gd name="connsiteY88" fmla="*/ 1021271 h 2391650"/>
                  <a:gd name="connsiteX89" fmla="*/ 650272 w 12179332"/>
                  <a:gd name="connsiteY89" fmla="*/ 1288352 h 2391650"/>
                  <a:gd name="connsiteX90" fmla="*/ 1365790 w 12179332"/>
                  <a:gd name="connsiteY90" fmla="*/ 945261 h 2391650"/>
                  <a:gd name="connsiteX91" fmla="*/ 1393793 w 12179332"/>
                  <a:gd name="connsiteY91" fmla="*/ 975074 h 2391650"/>
                  <a:gd name="connsiteX92" fmla="*/ 1815751 w 12179332"/>
                  <a:gd name="connsiteY92" fmla="*/ 1465231 h 2391650"/>
                  <a:gd name="connsiteX93" fmla="*/ 1900619 w 12179332"/>
                  <a:gd name="connsiteY93" fmla="*/ 1503617 h 2391650"/>
                  <a:gd name="connsiteX94" fmla="*/ 2438305 w 12179332"/>
                  <a:gd name="connsiteY94" fmla="*/ 1503902 h 2391650"/>
                  <a:gd name="connsiteX95" fmla="*/ 2490692 w 12179332"/>
                  <a:gd name="connsiteY95" fmla="*/ 1450277 h 2391650"/>
                  <a:gd name="connsiteX96" fmla="*/ 2489835 w 12179332"/>
                  <a:gd name="connsiteY96" fmla="*/ 404241 h 2391650"/>
                  <a:gd name="connsiteX97" fmla="*/ 2489835 w 12179332"/>
                  <a:gd name="connsiteY97" fmla="*/ 344234 h 2391650"/>
                  <a:gd name="connsiteX98" fmla="*/ 2799779 w 12179332"/>
                  <a:gd name="connsiteY98" fmla="*/ 344234 h 2391650"/>
                  <a:gd name="connsiteX99" fmla="*/ 2799779 w 12179332"/>
                  <a:gd name="connsiteY99" fmla="*/ 72009 h 2391650"/>
                  <a:gd name="connsiteX100" fmla="*/ 3557683 w 12179332"/>
                  <a:gd name="connsiteY100" fmla="*/ 72009 h 2391650"/>
                  <a:gd name="connsiteX101" fmla="*/ 3557683 w 12179332"/>
                  <a:gd name="connsiteY101" fmla="*/ 327089 h 2391650"/>
                  <a:gd name="connsiteX102" fmla="*/ 3875818 w 12179332"/>
                  <a:gd name="connsiteY102" fmla="*/ 327089 h 2391650"/>
                  <a:gd name="connsiteX103" fmla="*/ 3875818 w 12179332"/>
                  <a:gd name="connsiteY103" fmla="*/ 2273808 h 2391650"/>
                  <a:gd name="connsiteX104" fmla="*/ 4196429 w 12179332"/>
                  <a:gd name="connsiteY104" fmla="*/ 2273808 h 2391650"/>
                  <a:gd name="connsiteX105" fmla="*/ 4196429 w 12179332"/>
                  <a:gd name="connsiteY105" fmla="*/ 1632966 h 2391650"/>
                  <a:gd name="connsiteX106" fmla="*/ 4934141 w 12179332"/>
                  <a:gd name="connsiteY106" fmla="*/ 1632966 h 2391650"/>
                  <a:gd name="connsiteX107" fmla="*/ 4934141 w 12179332"/>
                  <a:gd name="connsiteY107" fmla="*/ 2273332 h 2391650"/>
                  <a:gd name="connsiteX108" fmla="*/ 5380482 w 12179332"/>
                  <a:gd name="connsiteY108" fmla="*/ 2273332 h 2391650"/>
                  <a:gd name="connsiteX109" fmla="*/ 5380482 w 12179332"/>
                  <a:gd name="connsiteY109" fmla="*/ 1435989 h 2391650"/>
                  <a:gd name="connsiteX110" fmla="*/ 5235607 w 12179332"/>
                  <a:gd name="connsiteY110" fmla="*/ 1435989 h 2391650"/>
                  <a:gd name="connsiteX111" fmla="*/ 6094762 w 12179332"/>
                  <a:gd name="connsiteY111" fmla="*/ 617887 h 2391650"/>
                  <a:gd name="connsiteX112" fmla="*/ 7006304 w 12179332"/>
                  <a:gd name="connsiteY112" fmla="*/ 1422940 h 2391650"/>
                  <a:gd name="connsiteX113" fmla="*/ 6850380 w 12179332"/>
                  <a:gd name="connsiteY113" fmla="*/ 1431608 h 2391650"/>
                  <a:gd name="connsiteX114" fmla="*/ 6850380 w 12179332"/>
                  <a:gd name="connsiteY114" fmla="*/ 2276951 h 2391650"/>
                  <a:gd name="connsiteX115" fmla="*/ 7085933 w 12179332"/>
                  <a:gd name="connsiteY115" fmla="*/ 2276570 h 2391650"/>
                  <a:gd name="connsiteX116" fmla="*/ 7144988 w 12179332"/>
                  <a:gd name="connsiteY116" fmla="*/ 2305050 h 2391650"/>
                  <a:gd name="connsiteX117" fmla="*/ 7399973 w 12179332"/>
                  <a:gd name="connsiteY117" fmla="*/ 2351246 h 2391650"/>
                  <a:gd name="connsiteX118" fmla="*/ 7486365 w 12179332"/>
                  <a:gd name="connsiteY118" fmla="*/ 2335816 h 2391650"/>
                  <a:gd name="connsiteX119" fmla="*/ 7637526 w 12179332"/>
                  <a:gd name="connsiteY119" fmla="*/ 2312003 h 2391650"/>
                  <a:gd name="connsiteX120" fmla="*/ 7761256 w 12179332"/>
                  <a:gd name="connsiteY120" fmla="*/ 2265712 h 2391650"/>
                  <a:gd name="connsiteX121" fmla="*/ 7951565 w 12179332"/>
                  <a:gd name="connsiteY121" fmla="*/ 2262092 h 2391650"/>
                  <a:gd name="connsiteX122" fmla="*/ 8229695 w 12179332"/>
                  <a:gd name="connsiteY122" fmla="*/ 2261902 h 2391650"/>
                  <a:gd name="connsiteX123" fmla="*/ 8264747 w 12179332"/>
                  <a:gd name="connsiteY123" fmla="*/ 1882807 h 2391650"/>
                  <a:gd name="connsiteX124" fmla="*/ 8249698 w 12179332"/>
                  <a:gd name="connsiteY124" fmla="*/ 1857375 h 2391650"/>
                  <a:gd name="connsiteX125" fmla="*/ 8113776 w 12179332"/>
                  <a:gd name="connsiteY125" fmla="*/ 1752029 h 2391650"/>
                  <a:gd name="connsiteX126" fmla="*/ 7869555 w 12179332"/>
                  <a:gd name="connsiteY126" fmla="*/ 1711643 h 2391650"/>
                  <a:gd name="connsiteX127" fmla="*/ 7839266 w 12179332"/>
                  <a:gd name="connsiteY127" fmla="*/ 1548098 h 2391650"/>
                  <a:gd name="connsiteX128" fmla="*/ 7993952 w 12179332"/>
                  <a:gd name="connsiteY128" fmla="*/ 1383697 h 2391650"/>
                  <a:gd name="connsiteX129" fmla="*/ 8042339 w 12179332"/>
                  <a:gd name="connsiteY129" fmla="*/ 979265 h 2391650"/>
                  <a:gd name="connsiteX130" fmla="*/ 8052816 w 12179332"/>
                  <a:gd name="connsiteY130" fmla="*/ 836581 h 2391650"/>
                  <a:gd name="connsiteX131" fmla="*/ 8184928 w 12179332"/>
                  <a:gd name="connsiteY131" fmla="*/ 696278 h 2391650"/>
                  <a:gd name="connsiteX132" fmla="*/ 8386858 w 12179332"/>
                  <a:gd name="connsiteY132" fmla="*/ 810006 h 2391650"/>
                  <a:gd name="connsiteX133" fmla="*/ 8413242 w 12179332"/>
                  <a:gd name="connsiteY133" fmla="*/ 930593 h 2391650"/>
                  <a:gd name="connsiteX134" fmla="*/ 8473059 w 12179332"/>
                  <a:gd name="connsiteY134" fmla="*/ 924401 h 2391650"/>
                  <a:gd name="connsiteX135" fmla="*/ 8651176 w 12179332"/>
                  <a:gd name="connsiteY135" fmla="*/ 1082993 h 2391650"/>
                  <a:gd name="connsiteX136" fmla="*/ 8630221 w 12179332"/>
                  <a:gd name="connsiteY136" fmla="*/ 1221200 h 2391650"/>
                  <a:gd name="connsiteX137" fmla="*/ 8648986 w 12179332"/>
                  <a:gd name="connsiteY137" fmla="*/ 1299591 h 2391650"/>
                  <a:gd name="connsiteX138" fmla="*/ 8709850 w 12179332"/>
                  <a:gd name="connsiteY138" fmla="*/ 1365314 h 2391650"/>
                  <a:gd name="connsiteX139" fmla="*/ 8729472 w 12179332"/>
                  <a:gd name="connsiteY139" fmla="*/ 1562195 h 2391650"/>
                  <a:gd name="connsiteX140" fmla="*/ 8543258 w 12179332"/>
                  <a:gd name="connsiteY140" fmla="*/ 1665256 h 2391650"/>
                  <a:gd name="connsiteX141" fmla="*/ 8501158 w 12179332"/>
                  <a:gd name="connsiteY141" fmla="*/ 1663351 h 2391650"/>
                  <a:gd name="connsiteX142" fmla="*/ 8415337 w 12179332"/>
                  <a:gd name="connsiteY142" fmla="*/ 1839563 h 2391650"/>
                  <a:gd name="connsiteX143" fmla="*/ 8365713 w 12179332"/>
                  <a:gd name="connsiteY143" fmla="*/ 1959102 h 2391650"/>
                  <a:gd name="connsiteX144" fmla="*/ 8367999 w 12179332"/>
                  <a:gd name="connsiteY144" fmla="*/ 1987486 h 2391650"/>
                  <a:gd name="connsiteX145" fmla="*/ 8394478 w 12179332"/>
                  <a:gd name="connsiteY145" fmla="*/ 2252758 h 2391650"/>
                  <a:gd name="connsiteX146" fmla="*/ 8975598 w 12179332"/>
                  <a:gd name="connsiteY146" fmla="*/ 2252758 h 2391650"/>
                  <a:gd name="connsiteX147" fmla="*/ 8975598 w 12179332"/>
                  <a:gd name="connsiteY147" fmla="*/ 2195132 h 2391650"/>
                  <a:gd name="connsiteX148" fmla="*/ 8974836 w 12179332"/>
                  <a:gd name="connsiteY148" fmla="*/ 1667351 h 2391650"/>
                  <a:gd name="connsiteX149" fmla="*/ 9023604 w 12179332"/>
                  <a:gd name="connsiteY149" fmla="*/ 1605629 h 2391650"/>
                  <a:gd name="connsiteX150" fmla="*/ 9920478 w 12179332"/>
                  <a:gd name="connsiteY150" fmla="*/ 1436561 h 2391650"/>
                  <a:gd name="connsiteX151" fmla="*/ 9991820 w 12179332"/>
                  <a:gd name="connsiteY151" fmla="*/ 1403604 h 2391650"/>
                  <a:gd name="connsiteX152" fmla="*/ 10470738 w 12179332"/>
                  <a:gd name="connsiteY152" fmla="*/ 1012508 h 2391650"/>
                  <a:gd name="connsiteX153" fmla="*/ 10870120 w 12179332"/>
                  <a:gd name="connsiteY153" fmla="*/ 685800 h 2391650"/>
                  <a:gd name="connsiteX154" fmla="*/ 11694700 w 12179332"/>
                  <a:gd name="connsiteY154" fmla="*/ 1337215 h 2391650"/>
                  <a:gd name="connsiteX155" fmla="*/ 11577637 w 12179332"/>
                  <a:gd name="connsiteY155" fmla="*/ 1356836 h 2391650"/>
                  <a:gd name="connsiteX156" fmla="*/ 11577637 w 12179332"/>
                  <a:gd name="connsiteY156" fmla="*/ 2261330 h 2391650"/>
                  <a:gd name="connsiteX157" fmla="*/ 12179332 w 12179332"/>
                  <a:gd name="connsiteY157" fmla="*/ 2261330 h 2391650"/>
                  <a:gd name="connsiteX158" fmla="*/ 12179332 w 12179332"/>
                  <a:gd name="connsiteY158" fmla="*/ 2194751 h 2391650"/>
                  <a:gd name="connsiteX159" fmla="*/ 11651647 w 12179332"/>
                  <a:gd name="connsiteY159" fmla="*/ 2194846 h 2391650"/>
                  <a:gd name="connsiteX160" fmla="*/ 7525322 w 12179332"/>
                  <a:gd name="connsiteY160" fmla="*/ 2265426 h 2391650"/>
                  <a:gd name="connsiteX161" fmla="*/ 7403592 w 12179332"/>
                  <a:gd name="connsiteY161" fmla="*/ 2239137 h 2391650"/>
                  <a:gd name="connsiteX162" fmla="*/ 7388543 w 12179332"/>
                  <a:gd name="connsiteY162" fmla="*/ 2261807 h 2391650"/>
                  <a:gd name="connsiteX163" fmla="*/ 7219379 w 12179332"/>
                  <a:gd name="connsiteY163" fmla="*/ 2302288 h 2391650"/>
                  <a:gd name="connsiteX164" fmla="*/ 7189280 w 12179332"/>
                  <a:gd name="connsiteY164" fmla="*/ 2195322 h 2391650"/>
                  <a:gd name="connsiteX165" fmla="*/ 7173754 w 12179332"/>
                  <a:gd name="connsiteY165" fmla="*/ 2077212 h 2391650"/>
                  <a:gd name="connsiteX166" fmla="*/ 7157371 w 12179332"/>
                  <a:gd name="connsiteY166" fmla="*/ 1996726 h 2391650"/>
                  <a:gd name="connsiteX167" fmla="*/ 7258812 w 12179332"/>
                  <a:gd name="connsiteY167" fmla="*/ 1956054 h 2391650"/>
                  <a:gd name="connsiteX168" fmla="*/ 7350728 w 12179332"/>
                  <a:gd name="connsiteY168" fmla="*/ 1927384 h 2391650"/>
                  <a:gd name="connsiteX169" fmla="*/ 7491889 w 12179332"/>
                  <a:gd name="connsiteY169" fmla="*/ 1919478 h 2391650"/>
                  <a:gd name="connsiteX170" fmla="*/ 7502843 w 12179332"/>
                  <a:gd name="connsiteY170" fmla="*/ 2008442 h 2391650"/>
                  <a:gd name="connsiteX171" fmla="*/ 7448265 w 12179332"/>
                  <a:gd name="connsiteY171" fmla="*/ 2081498 h 2391650"/>
                  <a:gd name="connsiteX172" fmla="*/ 7541610 w 12179332"/>
                  <a:gd name="connsiteY172" fmla="*/ 2105406 h 2391650"/>
                  <a:gd name="connsiteX173" fmla="*/ 7602284 w 12179332"/>
                  <a:gd name="connsiteY173" fmla="*/ 2158365 h 2391650"/>
                  <a:gd name="connsiteX174" fmla="*/ 7525322 w 12179332"/>
                  <a:gd name="connsiteY174" fmla="*/ 2265426 h 239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12179332" h="2391650">
                    <a:moveTo>
                      <a:pt x="11651647" y="2194846"/>
                    </a:moveTo>
                    <a:cubicBezTo>
                      <a:pt x="11651647" y="1933194"/>
                      <a:pt x="11651647" y="1680877"/>
                      <a:pt x="11651647" y="1418654"/>
                    </a:cubicBezTo>
                    <a:cubicBezTo>
                      <a:pt x="11736704" y="1418654"/>
                      <a:pt x="11818905" y="1418654"/>
                      <a:pt x="11901201" y="1418654"/>
                    </a:cubicBezTo>
                    <a:cubicBezTo>
                      <a:pt x="11901678" y="1414463"/>
                      <a:pt x="11902155" y="1410367"/>
                      <a:pt x="11902630" y="1406176"/>
                    </a:cubicBezTo>
                    <a:cubicBezTo>
                      <a:pt x="11558587" y="1134428"/>
                      <a:pt x="11214544" y="862775"/>
                      <a:pt x="10870120" y="590645"/>
                    </a:cubicBezTo>
                    <a:cubicBezTo>
                      <a:pt x="10847927" y="608743"/>
                      <a:pt x="10829448" y="623697"/>
                      <a:pt x="10811161" y="638747"/>
                    </a:cubicBezTo>
                    <a:cubicBezTo>
                      <a:pt x="10533126" y="867251"/>
                      <a:pt x="10255377" y="1096137"/>
                      <a:pt x="9976580" y="1323689"/>
                    </a:cubicBezTo>
                    <a:cubicBezTo>
                      <a:pt x="9955529" y="1340834"/>
                      <a:pt x="9928193" y="1354550"/>
                      <a:pt x="9901714" y="1359980"/>
                    </a:cubicBezTo>
                    <a:cubicBezTo>
                      <a:pt x="9581864" y="1425226"/>
                      <a:pt x="9261824" y="1489139"/>
                      <a:pt x="8941403" y="1551527"/>
                    </a:cubicBezTo>
                    <a:cubicBezTo>
                      <a:pt x="8907971" y="1558004"/>
                      <a:pt x="8897684" y="1569339"/>
                      <a:pt x="8898160" y="1603343"/>
                    </a:cubicBezTo>
                    <a:cubicBezTo>
                      <a:pt x="8900732" y="1779270"/>
                      <a:pt x="8900732" y="1955197"/>
                      <a:pt x="8901589" y="2131124"/>
                    </a:cubicBezTo>
                    <a:cubicBezTo>
                      <a:pt x="8901684" y="2147983"/>
                      <a:pt x="8901589" y="2164937"/>
                      <a:pt x="8901589" y="2188274"/>
                    </a:cubicBezTo>
                    <a:cubicBezTo>
                      <a:pt x="8752141" y="2188274"/>
                      <a:pt x="8608695" y="2188274"/>
                      <a:pt x="8461915" y="2188274"/>
                    </a:cubicBezTo>
                    <a:cubicBezTo>
                      <a:pt x="8449437" y="2115503"/>
                      <a:pt x="8437912" y="2040636"/>
                      <a:pt x="8423339" y="1966246"/>
                    </a:cubicBezTo>
                    <a:cubicBezTo>
                      <a:pt x="8417243" y="1935004"/>
                      <a:pt x="8430006" y="1920716"/>
                      <a:pt x="8452675" y="1900333"/>
                    </a:cubicBezTo>
                    <a:cubicBezTo>
                      <a:pt x="8491537" y="1865281"/>
                      <a:pt x="8528590" y="1824323"/>
                      <a:pt x="8553069" y="1778699"/>
                    </a:cubicBezTo>
                    <a:cubicBezTo>
                      <a:pt x="8567737" y="1751362"/>
                      <a:pt x="8577929" y="1735074"/>
                      <a:pt x="8608695" y="1726121"/>
                    </a:cubicBezTo>
                    <a:cubicBezTo>
                      <a:pt x="8830056" y="1661541"/>
                      <a:pt x="8892350" y="1432941"/>
                      <a:pt x="8733853" y="1267587"/>
                    </a:cubicBezTo>
                    <a:cubicBezTo>
                      <a:pt x="8710041" y="1242727"/>
                      <a:pt x="8700040" y="1221581"/>
                      <a:pt x="8708517" y="1185005"/>
                    </a:cubicBezTo>
                    <a:cubicBezTo>
                      <a:pt x="8718328" y="1142619"/>
                      <a:pt x="8720137" y="1096804"/>
                      <a:pt x="8716328" y="1053179"/>
                    </a:cubicBezTo>
                    <a:cubicBezTo>
                      <a:pt x="8705755" y="934212"/>
                      <a:pt x="8611648" y="849821"/>
                      <a:pt x="8494109" y="851630"/>
                    </a:cubicBezTo>
                    <a:cubicBezTo>
                      <a:pt x="8466010" y="852011"/>
                      <a:pt x="8457343" y="841915"/>
                      <a:pt x="8448961" y="816578"/>
                    </a:cubicBezTo>
                    <a:cubicBezTo>
                      <a:pt x="8437245" y="780955"/>
                      <a:pt x="8421624" y="745046"/>
                      <a:pt x="8400098" y="714566"/>
                    </a:cubicBezTo>
                    <a:cubicBezTo>
                      <a:pt x="8339042" y="628269"/>
                      <a:pt x="8192548" y="592646"/>
                      <a:pt x="8098917" y="637604"/>
                    </a:cubicBezTo>
                    <a:cubicBezTo>
                      <a:pt x="8027480" y="671894"/>
                      <a:pt x="7966234" y="789432"/>
                      <a:pt x="7970425" y="878586"/>
                    </a:cubicBezTo>
                    <a:cubicBezTo>
                      <a:pt x="7971187" y="893921"/>
                      <a:pt x="7964329" y="916115"/>
                      <a:pt x="7952994" y="924592"/>
                    </a:cubicBezTo>
                    <a:cubicBezTo>
                      <a:pt x="7805928" y="1034701"/>
                      <a:pt x="7770019" y="1167765"/>
                      <a:pt x="7851267" y="1332833"/>
                    </a:cubicBezTo>
                    <a:cubicBezTo>
                      <a:pt x="7870794" y="1372457"/>
                      <a:pt x="7865936" y="1393698"/>
                      <a:pt x="7837361" y="1425416"/>
                    </a:cubicBezTo>
                    <a:cubicBezTo>
                      <a:pt x="7753445" y="1518285"/>
                      <a:pt x="7742873" y="1628204"/>
                      <a:pt x="7801261" y="1727549"/>
                    </a:cubicBezTo>
                    <a:cubicBezTo>
                      <a:pt x="7864888" y="1835753"/>
                      <a:pt x="7953470" y="1872710"/>
                      <a:pt x="8084058" y="1845564"/>
                    </a:cubicBezTo>
                    <a:cubicBezTo>
                      <a:pt x="8115586" y="1838992"/>
                      <a:pt x="8204073" y="1903571"/>
                      <a:pt x="8201311" y="1934528"/>
                    </a:cubicBezTo>
                    <a:cubicBezTo>
                      <a:pt x="8194453" y="2011490"/>
                      <a:pt x="8184452" y="2088261"/>
                      <a:pt x="8175213" y="2169033"/>
                    </a:cubicBezTo>
                    <a:cubicBezTo>
                      <a:pt x="8017288" y="2174653"/>
                      <a:pt x="7862697" y="2180177"/>
                      <a:pt x="7709631" y="2185702"/>
                    </a:cubicBezTo>
                    <a:cubicBezTo>
                      <a:pt x="7681150" y="2091500"/>
                      <a:pt x="7681150" y="2091500"/>
                      <a:pt x="7589615" y="2032064"/>
                    </a:cubicBezTo>
                    <a:cubicBezTo>
                      <a:pt x="7589235" y="2030540"/>
                      <a:pt x="7588377" y="2029015"/>
                      <a:pt x="7588568" y="2027587"/>
                    </a:cubicBezTo>
                    <a:cubicBezTo>
                      <a:pt x="7599998" y="1919669"/>
                      <a:pt x="7570851" y="1856423"/>
                      <a:pt x="7493318" y="1820894"/>
                    </a:cubicBezTo>
                    <a:cubicBezTo>
                      <a:pt x="7402640" y="1779270"/>
                      <a:pt x="7357110" y="1791653"/>
                      <a:pt x="7271290" y="1879473"/>
                    </a:cubicBezTo>
                    <a:cubicBezTo>
                      <a:pt x="7265861" y="1884998"/>
                      <a:pt x="7254621" y="1885760"/>
                      <a:pt x="7245763" y="1886903"/>
                    </a:cubicBezTo>
                    <a:cubicBezTo>
                      <a:pt x="7125748" y="1902047"/>
                      <a:pt x="7079742" y="1965674"/>
                      <a:pt x="7105459" y="2083784"/>
                    </a:cubicBezTo>
                    <a:cubicBezTo>
                      <a:pt x="7113080" y="2118836"/>
                      <a:pt x="7124986" y="2152936"/>
                      <a:pt x="7135083" y="2188083"/>
                    </a:cubicBezTo>
                    <a:cubicBezTo>
                      <a:pt x="7078694" y="2188083"/>
                      <a:pt x="7024878" y="2187035"/>
                      <a:pt x="6971157" y="2188464"/>
                    </a:cubicBezTo>
                    <a:cubicBezTo>
                      <a:pt x="6940582" y="2189321"/>
                      <a:pt x="6930200" y="2178177"/>
                      <a:pt x="6930200" y="2147030"/>
                    </a:cubicBezTo>
                    <a:cubicBezTo>
                      <a:pt x="6930295" y="1944148"/>
                      <a:pt x="6928581" y="1741265"/>
                      <a:pt x="6927723" y="1538383"/>
                    </a:cubicBezTo>
                    <a:cubicBezTo>
                      <a:pt x="6927723" y="1529334"/>
                      <a:pt x="6929438" y="1520190"/>
                      <a:pt x="6930295" y="1510665"/>
                    </a:cubicBezTo>
                    <a:cubicBezTo>
                      <a:pt x="7018687" y="1510665"/>
                      <a:pt x="7104222" y="1510665"/>
                      <a:pt x="7198710" y="1510665"/>
                    </a:cubicBezTo>
                    <a:cubicBezTo>
                      <a:pt x="6827044" y="1171861"/>
                      <a:pt x="6461950" y="839153"/>
                      <a:pt x="6094762" y="504444"/>
                    </a:cubicBezTo>
                    <a:cubicBezTo>
                      <a:pt x="5736241" y="840200"/>
                      <a:pt x="5380768" y="1173004"/>
                      <a:pt x="5025295" y="1505903"/>
                    </a:cubicBezTo>
                    <a:cubicBezTo>
                      <a:pt x="5026819" y="1510951"/>
                      <a:pt x="5028438" y="1515999"/>
                      <a:pt x="5029962" y="1521047"/>
                    </a:cubicBezTo>
                    <a:cubicBezTo>
                      <a:pt x="5119212" y="1521047"/>
                      <a:pt x="5208461" y="1521047"/>
                      <a:pt x="5303615" y="1521047"/>
                    </a:cubicBezTo>
                    <a:cubicBezTo>
                      <a:pt x="5303615" y="1753076"/>
                      <a:pt x="5303615" y="1975295"/>
                      <a:pt x="5303615" y="2192179"/>
                    </a:cubicBezTo>
                    <a:cubicBezTo>
                      <a:pt x="5204174" y="2192179"/>
                      <a:pt x="5106543" y="2192179"/>
                      <a:pt x="5003769" y="2192179"/>
                    </a:cubicBezTo>
                    <a:cubicBezTo>
                      <a:pt x="5003769" y="1975009"/>
                      <a:pt x="5003769" y="1765173"/>
                      <a:pt x="5003769" y="1556957"/>
                    </a:cubicBezTo>
                    <a:cubicBezTo>
                      <a:pt x="4707160" y="1556957"/>
                      <a:pt x="4415981" y="1556957"/>
                      <a:pt x="4124801" y="1556957"/>
                    </a:cubicBezTo>
                    <a:cubicBezTo>
                      <a:pt x="4124801" y="1772888"/>
                      <a:pt x="4124801" y="1984343"/>
                      <a:pt x="4124801" y="2200370"/>
                    </a:cubicBezTo>
                    <a:cubicBezTo>
                      <a:pt x="4064318" y="2197037"/>
                      <a:pt x="4006310" y="2193798"/>
                      <a:pt x="3945350" y="2190464"/>
                    </a:cubicBezTo>
                    <a:cubicBezTo>
                      <a:pt x="3945350" y="1547908"/>
                      <a:pt x="3945350" y="908590"/>
                      <a:pt x="3945350" y="262128"/>
                    </a:cubicBezTo>
                    <a:cubicBezTo>
                      <a:pt x="3839337" y="262128"/>
                      <a:pt x="3735800" y="262128"/>
                      <a:pt x="3627311" y="262128"/>
                    </a:cubicBezTo>
                    <a:cubicBezTo>
                      <a:pt x="3627311" y="170307"/>
                      <a:pt x="3627311" y="85535"/>
                      <a:pt x="3627311" y="0"/>
                    </a:cubicBezTo>
                    <a:cubicBezTo>
                      <a:pt x="3326702" y="0"/>
                      <a:pt x="3031331" y="0"/>
                      <a:pt x="2735771" y="0"/>
                    </a:cubicBezTo>
                    <a:cubicBezTo>
                      <a:pt x="2735771" y="93917"/>
                      <a:pt x="2735771" y="183642"/>
                      <a:pt x="2735771" y="276892"/>
                    </a:cubicBezTo>
                    <a:cubicBezTo>
                      <a:pt x="2629091" y="271272"/>
                      <a:pt x="2525459" y="265748"/>
                      <a:pt x="2417255" y="260033"/>
                    </a:cubicBezTo>
                    <a:cubicBezTo>
                      <a:pt x="2417255" y="284702"/>
                      <a:pt x="2417255" y="303371"/>
                      <a:pt x="2417255" y="321945"/>
                    </a:cubicBezTo>
                    <a:cubicBezTo>
                      <a:pt x="2418207" y="667417"/>
                      <a:pt x="2419160" y="1012984"/>
                      <a:pt x="2420112" y="1358456"/>
                    </a:cubicBezTo>
                    <a:cubicBezTo>
                      <a:pt x="2420303" y="1438942"/>
                      <a:pt x="2420398" y="1439132"/>
                      <a:pt x="2338197" y="1437704"/>
                    </a:cubicBezTo>
                    <a:cubicBezTo>
                      <a:pt x="2204942" y="1435418"/>
                      <a:pt x="2071783" y="1431798"/>
                      <a:pt x="1938528" y="1430941"/>
                    </a:cubicBezTo>
                    <a:cubicBezTo>
                      <a:pt x="1907191" y="1430750"/>
                      <a:pt x="1886045" y="1421606"/>
                      <a:pt x="1865757" y="1397508"/>
                    </a:cubicBezTo>
                    <a:cubicBezTo>
                      <a:pt x="1720596" y="1225486"/>
                      <a:pt x="1572959" y="1055465"/>
                      <a:pt x="1428655" y="882777"/>
                    </a:cubicBezTo>
                    <a:cubicBezTo>
                      <a:pt x="1401604" y="850392"/>
                      <a:pt x="1381792" y="849344"/>
                      <a:pt x="1346168" y="867251"/>
                    </a:cubicBezTo>
                    <a:cubicBezTo>
                      <a:pt x="1160717" y="960310"/>
                      <a:pt x="973741" y="1050608"/>
                      <a:pt x="787241" y="1141667"/>
                    </a:cubicBezTo>
                    <a:cubicBezTo>
                      <a:pt x="769525" y="1150334"/>
                      <a:pt x="751332" y="1157954"/>
                      <a:pt x="721709" y="1171385"/>
                    </a:cubicBezTo>
                    <a:cubicBezTo>
                      <a:pt x="721709" y="1083945"/>
                      <a:pt x="721709" y="1007078"/>
                      <a:pt x="721709" y="926878"/>
                    </a:cubicBezTo>
                    <a:cubicBezTo>
                      <a:pt x="633984" y="926878"/>
                      <a:pt x="555593" y="926878"/>
                      <a:pt x="468154" y="926878"/>
                    </a:cubicBezTo>
                    <a:cubicBezTo>
                      <a:pt x="468154" y="1024985"/>
                      <a:pt x="464915" y="1121474"/>
                      <a:pt x="469487" y="1217581"/>
                    </a:cubicBezTo>
                    <a:cubicBezTo>
                      <a:pt x="471869" y="1266730"/>
                      <a:pt x="453581" y="1291304"/>
                      <a:pt x="411575" y="1311593"/>
                    </a:cubicBezTo>
                    <a:cubicBezTo>
                      <a:pt x="341757" y="1345311"/>
                      <a:pt x="274511" y="1384459"/>
                      <a:pt x="206312" y="1421606"/>
                    </a:cubicBezTo>
                    <a:cubicBezTo>
                      <a:pt x="159639" y="1446943"/>
                      <a:pt x="113157" y="1472756"/>
                      <a:pt x="66675" y="1498283"/>
                    </a:cubicBezTo>
                    <a:cubicBezTo>
                      <a:pt x="67437" y="1501140"/>
                      <a:pt x="68199" y="1504093"/>
                      <a:pt x="69056" y="1506950"/>
                    </a:cubicBezTo>
                    <a:cubicBezTo>
                      <a:pt x="156686" y="1511618"/>
                      <a:pt x="244412" y="1516190"/>
                      <a:pt x="340614" y="1521238"/>
                    </a:cubicBezTo>
                    <a:cubicBezTo>
                      <a:pt x="340614" y="1744599"/>
                      <a:pt x="340614" y="1962531"/>
                      <a:pt x="340614" y="2185321"/>
                    </a:cubicBezTo>
                    <a:cubicBezTo>
                      <a:pt x="325088" y="2186369"/>
                      <a:pt x="304895" y="2188083"/>
                      <a:pt x="284702" y="2188845"/>
                    </a:cubicBezTo>
                    <a:cubicBezTo>
                      <a:pt x="189833" y="2192560"/>
                      <a:pt x="94869" y="2196084"/>
                      <a:pt x="0" y="2199704"/>
                    </a:cubicBezTo>
                    <a:cubicBezTo>
                      <a:pt x="0" y="2225040"/>
                      <a:pt x="0" y="2250472"/>
                      <a:pt x="0" y="2275808"/>
                    </a:cubicBezTo>
                    <a:cubicBezTo>
                      <a:pt x="137541" y="2275808"/>
                      <a:pt x="275082" y="2275808"/>
                      <a:pt x="415290" y="2275808"/>
                    </a:cubicBezTo>
                    <a:cubicBezTo>
                      <a:pt x="415290" y="1995107"/>
                      <a:pt x="415290" y="1718405"/>
                      <a:pt x="415290" y="1438751"/>
                    </a:cubicBezTo>
                    <a:cubicBezTo>
                      <a:pt x="403193" y="1435703"/>
                      <a:pt x="390239" y="1432465"/>
                      <a:pt x="368713" y="1427036"/>
                    </a:cubicBezTo>
                    <a:cubicBezTo>
                      <a:pt x="410909" y="1403414"/>
                      <a:pt x="445103" y="1380554"/>
                      <a:pt x="482251" y="1364456"/>
                    </a:cubicBezTo>
                    <a:cubicBezTo>
                      <a:pt x="518827" y="1348645"/>
                      <a:pt x="528161" y="1324642"/>
                      <a:pt x="527114" y="1286923"/>
                    </a:cubicBezTo>
                    <a:cubicBezTo>
                      <a:pt x="524542" y="1198721"/>
                      <a:pt x="526352" y="1110329"/>
                      <a:pt x="526352" y="1021271"/>
                    </a:cubicBezTo>
                    <a:cubicBezTo>
                      <a:pt x="563499" y="1021271"/>
                      <a:pt x="594360" y="1021271"/>
                      <a:pt x="626554" y="1021271"/>
                    </a:cubicBezTo>
                    <a:cubicBezTo>
                      <a:pt x="634460" y="1110425"/>
                      <a:pt x="642080" y="1196340"/>
                      <a:pt x="650272" y="1288352"/>
                    </a:cubicBezTo>
                    <a:cubicBezTo>
                      <a:pt x="892207" y="1172337"/>
                      <a:pt x="1128713" y="1058894"/>
                      <a:pt x="1365790" y="945261"/>
                    </a:cubicBezTo>
                    <a:cubicBezTo>
                      <a:pt x="1376648" y="956786"/>
                      <a:pt x="1385602" y="965549"/>
                      <a:pt x="1393793" y="975074"/>
                    </a:cubicBezTo>
                    <a:cubicBezTo>
                      <a:pt x="1534763" y="1138238"/>
                      <a:pt x="1676305" y="1300829"/>
                      <a:pt x="1815751" y="1465231"/>
                    </a:cubicBezTo>
                    <a:cubicBezTo>
                      <a:pt x="1839754" y="1493520"/>
                      <a:pt x="1864138" y="1503998"/>
                      <a:pt x="1900619" y="1503617"/>
                    </a:cubicBezTo>
                    <a:cubicBezTo>
                      <a:pt x="2079879" y="1501902"/>
                      <a:pt x="2259140" y="1501426"/>
                      <a:pt x="2438305" y="1503902"/>
                    </a:cubicBezTo>
                    <a:cubicBezTo>
                      <a:pt x="2481358" y="1504474"/>
                      <a:pt x="2490883" y="1491329"/>
                      <a:pt x="2490692" y="1450277"/>
                    </a:cubicBezTo>
                    <a:cubicBezTo>
                      <a:pt x="2489073" y="1101566"/>
                      <a:pt x="2489835" y="752951"/>
                      <a:pt x="2489835" y="404241"/>
                    </a:cubicBezTo>
                    <a:cubicBezTo>
                      <a:pt x="2489835" y="385953"/>
                      <a:pt x="2489835" y="367570"/>
                      <a:pt x="2489835" y="344234"/>
                    </a:cubicBezTo>
                    <a:cubicBezTo>
                      <a:pt x="2595848" y="344234"/>
                      <a:pt x="2694909" y="344234"/>
                      <a:pt x="2799779" y="344234"/>
                    </a:cubicBezTo>
                    <a:cubicBezTo>
                      <a:pt x="2799779" y="250031"/>
                      <a:pt x="2799779" y="160782"/>
                      <a:pt x="2799779" y="72009"/>
                    </a:cubicBezTo>
                    <a:cubicBezTo>
                      <a:pt x="3054192" y="72009"/>
                      <a:pt x="3302603" y="72009"/>
                      <a:pt x="3557683" y="72009"/>
                    </a:cubicBezTo>
                    <a:cubicBezTo>
                      <a:pt x="3557683" y="157544"/>
                      <a:pt x="3557683" y="240411"/>
                      <a:pt x="3557683" y="327089"/>
                    </a:cubicBezTo>
                    <a:cubicBezTo>
                      <a:pt x="3666459" y="327089"/>
                      <a:pt x="3768567" y="327089"/>
                      <a:pt x="3875818" y="327089"/>
                    </a:cubicBezTo>
                    <a:cubicBezTo>
                      <a:pt x="3875818" y="978313"/>
                      <a:pt x="3875818" y="1625632"/>
                      <a:pt x="3875818" y="2273808"/>
                    </a:cubicBezTo>
                    <a:cubicBezTo>
                      <a:pt x="3984879" y="2273808"/>
                      <a:pt x="4088702" y="2273808"/>
                      <a:pt x="4196429" y="2273808"/>
                    </a:cubicBezTo>
                    <a:cubicBezTo>
                      <a:pt x="4196429" y="2060448"/>
                      <a:pt x="4196429" y="1850231"/>
                      <a:pt x="4196429" y="1632966"/>
                    </a:cubicBezTo>
                    <a:cubicBezTo>
                      <a:pt x="4443318" y="1632966"/>
                      <a:pt x="4686110" y="1632966"/>
                      <a:pt x="4934141" y="1632966"/>
                    </a:cubicBezTo>
                    <a:cubicBezTo>
                      <a:pt x="4934141" y="1846993"/>
                      <a:pt x="4934141" y="2060162"/>
                      <a:pt x="4934141" y="2273332"/>
                    </a:cubicBezTo>
                    <a:cubicBezTo>
                      <a:pt x="5085779" y="2273332"/>
                      <a:pt x="5232273" y="2273332"/>
                      <a:pt x="5380482" y="2273332"/>
                    </a:cubicBezTo>
                    <a:cubicBezTo>
                      <a:pt x="5380482" y="1993106"/>
                      <a:pt x="5380482" y="1716500"/>
                      <a:pt x="5380482" y="1435989"/>
                    </a:cubicBezTo>
                    <a:cubicBezTo>
                      <a:pt x="5334762" y="1435989"/>
                      <a:pt x="5291519" y="1435989"/>
                      <a:pt x="5235607" y="1435989"/>
                    </a:cubicBezTo>
                    <a:cubicBezTo>
                      <a:pt x="5527263" y="1158335"/>
                      <a:pt x="5810059" y="888968"/>
                      <a:pt x="6094762" y="617887"/>
                    </a:cubicBezTo>
                    <a:cubicBezTo>
                      <a:pt x="6397276" y="885063"/>
                      <a:pt x="6697123" y="1149858"/>
                      <a:pt x="7006304" y="1422940"/>
                    </a:cubicBezTo>
                    <a:cubicBezTo>
                      <a:pt x="6943630" y="1426464"/>
                      <a:pt x="6893910" y="1429226"/>
                      <a:pt x="6850380" y="1431608"/>
                    </a:cubicBezTo>
                    <a:cubicBezTo>
                      <a:pt x="6850380" y="1714881"/>
                      <a:pt x="6850380" y="1993202"/>
                      <a:pt x="6850380" y="2276951"/>
                    </a:cubicBezTo>
                    <a:cubicBezTo>
                      <a:pt x="6934582" y="2276951"/>
                      <a:pt x="7010305" y="2277713"/>
                      <a:pt x="7085933" y="2276570"/>
                    </a:cubicBezTo>
                    <a:cubicBezTo>
                      <a:pt x="7111556" y="2276189"/>
                      <a:pt x="7128700" y="2282285"/>
                      <a:pt x="7144988" y="2305050"/>
                    </a:cubicBezTo>
                    <a:cubicBezTo>
                      <a:pt x="7213759" y="2401634"/>
                      <a:pt x="7302246" y="2418017"/>
                      <a:pt x="7399973" y="2351246"/>
                    </a:cubicBezTo>
                    <a:cubicBezTo>
                      <a:pt x="7428738" y="2331625"/>
                      <a:pt x="7452456" y="2326100"/>
                      <a:pt x="7486365" y="2335816"/>
                    </a:cubicBezTo>
                    <a:cubicBezTo>
                      <a:pt x="7539228" y="2350865"/>
                      <a:pt x="7601617" y="2358962"/>
                      <a:pt x="7637526" y="2312003"/>
                    </a:cubicBezTo>
                    <a:cubicBezTo>
                      <a:pt x="7673341" y="2265236"/>
                      <a:pt x="7714298" y="2266188"/>
                      <a:pt x="7761256" y="2265712"/>
                    </a:cubicBezTo>
                    <a:cubicBezTo>
                      <a:pt x="7824692" y="2265045"/>
                      <a:pt x="7888129" y="2262569"/>
                      <a:pt x="7951565" y="2262092"/>
                    </a:cubicBezTo>
                    <a:cubicBezTo>
                      <a:pt x="8043196" y="2261426"/>
                      <a:pt x="8134732" y="2261902"/>
                      <a:pt x="8229695" y="2261902"/>
                    </a:cubicBezTo>
                    <a:cubicBezTo>
                      <a:pt x="8242364" y="2128076"/>
                      <a:pt x="8254270" y="2005489"/>
                      <a:pt x="8264747" y="1882807"/>
                    </a:cubicBezTo>
                    <a:cubicBezTo>
                      <a:pt x="8265414" y="1874711"/>
                      <a:pt x="8257032" y="1863281"/>
                      <a:pt x="8249698" y="1857375"/>
                    </a:cubicBezTo>
                    <a:cubicBezTo>
                      <a:pt x="8206264" y="1822704"/>
                      <a:pt x="8161973" y="1789176"/>
                      <a:pt x="8113776" y="1752029"/>
                    </a:cubicBezTo>
                    <a:cubicBezTo>
                      <a:pt x="7993571" y="1806131"/>
                      <a:pt x="7908608" y="1797844"/>
                      <a:pt x="7869555" y="1711643"/>
                    </a:cubicBezTo>
                    <a:cubicBezTo>
                      <a:pt x="7847076" y="1662113"/>
                      <a:pt x="7832789" y="1601057"/>
                      <a:pt x="7839266" y="1548098"/>
                    </a:cubicBezTo>
                    <a:cubicBezTo>
                      <a:pt x="7849553" y="1463802"/>
                      <a:pt x="7916037" y="1414939"/>
                      <a:pt x="7993952" y="1383697"/>
                    </a:cubicBezTo>
                    <a:cubicBezTo>
                      <a:pt x="7829169" y="1221581"/>
                      <a:pt x="7819263" y="1071467"/>
                      <a:pt x="8042339" y="979265"/>
                    </a:cubicBezTo>
                    <a:cubicBezTo>
                      <a:pt x="8045672" y="930688"/>
                      <a:pt x="8045292" y="883063"/>
                      <a:pt x="8052816" y="836581"/>
                    </a:cubicBezTo>
                    <a:cubicBezTo>
                      <a:pt x="8066532" y="751237"/>
                      <a:pt x="8114919" y="702469"/>
                      <a:pt x="8184928" y="696278"/>
                    </a:cubicBezTo>
                    <a:cubicBezTo>
                      <a:pt x="8287226" y="687229"/>
                      <a:pt x="8357425" y="724948"/>
                      <a:pt x="8386858" y="810006"/>
                    </a:cubicBezTo>
                    <a:cubicBezTo>
                      <a:pt x="8400098" y="848201"/>
                      <a:pt x="8404574" y="889445"/>
                      <a:pt x="8413242" y="930593"/>
                    </a:cubicBezTo>
                    <a:cubicBezTo>
                      <a:pt x="8432482" y="928497"/>
                      <a:pt x="8452675" y="925259"/>
                      <a:pt x="8473059" y="924401"/>
                    </a:cubicBezTo>
                    <a:cubicBezTo>
                      <a:pt x="8580215" y="919734"/>
                      <a:pt x="8646605" y="975646"/>
                      <a:pt x="8651176" y="1082993"/>
                    </a:cubicBezTo>
                    <a:cubicBezTo>
                      <a:pt x="8653177" y="1128903"/>
                      <a:pt x="8643652" y="1176909"/>
                      <a:pt x="8630221" y="1221200"/>
                    </a:cubicBezTo>
                    <a:cubicBezTo>
                      <a:pt x="8620030" y="1254824"/>
                      <a:pt x="8612981" y="1276826"/>
                      <a:pt x="8648986" y="1299591"/>
                    </a:cubicBezTo>
                    <a:cubicBezTo>
                      <a:pt x="8673465" y="1315117"/>
                      <a:pt x="8692801" y="1340834"/>
                      <a:pt x="8709850" y="1365314"/>
                    </a:cubicBezTo>
                    <a:cubicBezTo>
                      <a:pt x="8752713" y="1426655"/>
                      <a:pt x="8767286" y="1495235"/>
                      <a:pt x="8729472" y="1562195"/>
                    </a:cubicBezTo>
                    <a:cubicBezTo>
                      <a:pt x="8690134" y="1631918"/>
                      <a:pt x="8624602" y="1665732"/>
                      <a:pt x="8543258" y="1665256"/>
                    </a:cubicBezTo>
                    <a:cubicBezTo>
                      <a:pt x="8529637" y="1665161"/>
                      <a:pt x="8516017" y="1664113"/>
                      <a:pt x="8501158" y="1663351"/>
                    </a:cubicBezTo>
                    <a:cubicBezTo>
                      <a:pt x="8493538" y="1734693"/>
                      <a:pt x="8474678" y="1801559"/>
                      <a:pt x="8415337" y="1839563"/>
                    </a:cubicBezTo>
                    <a:cubicBezTo>
                      <a:pt x="8365998" y="1871091"/>
                      <a:pt x="8350853" y="1905953"/>
                      <a:pt x="8365713" y="1959102"/>
                    </a:cubicBezTo>
                    <a:cubicBezTo>
                      <a:pt x="8368189" y="1968056"/>
                      <a:pt x="8367046" y="1978057"/>
                      <a:pt x="8367999" y="1987486"/>
                    </a:cubicBezTo>
                    <a:cubicBezTo>
                      <a:pt x="8376857" y="2076736"/>
                      <a:pt x="8385810" y="2165985"/>
                      <a:pt x="8394478" y="2252758"/>
                    </a:cubicBezTo>
                    <a:cubicBezTo>
                      <a:pt x="8591264" y="2252758"/>
                      <a:pt x="8782145" y="2252758"/>
                      <a:pt x="8975598" y="2252758"/>
                    </a:cubicBezTo>
                    <a:cubicBezTo>
                      <a:pt x="8975598" y="2229803"/>
                      <a:pt x="8975598" y="2212467"/>
                      <a:pt x="8975598" y="2195132"/>
                    </a:cubicBezTo>
                    <a:cubicBezTo>
                      <a:pt x="8975598" y="2019205"/>
                      <a:pt x="8976550" y="1843278"/>
                      <a:pt x="8974836" y="1667351"/>
                    </a:cubicBezTo>
                    <a:cubicBezTo>
                      <a:pt x="8974455" y="1629728"/>
                      <a:pt x="8981599" y="1613249"/>
                      <a:pt x="9023604" y="1605629"/>
                    </a:cubicBezTo>
                    <a:cubicBezTo>
                      <a:pt x="9322975" y="1551527"/>
                      <a:pt x="9621774" y="1494377"/>
                      <a:pt x="9920478" y="1436561"/>
                    </a:cubicBezTo>
                    <a:cubicBezTo>
                      <a:pt x="9945624" y="1431703"/>
                      <a:pt x="9972009" y="1419606"/>
                      <a:pt x="9991820" y="1403604"/>
                    </a:cubicBezTo>
                    <a:cubicBezTo>
                      <a:pt x="10152221" y="1274255"/>
                      <a:pt x="10311194" y="1143095"/>
                      <a:pt x="10470738" y="1012508"/>
                    </a:cubicBezTo>
                    <a:cubicBezTo>
                      <a:pt x="10603040" y="904208"/>
                      <a:pt x="10735436" y="796004"/>
                      <a:pt x="10870120" y="685800"/>
                    </a:cubicBezTo>
                    <a:cubicBezTo>
                      <a:pt x="11143584" y="901827"/>
                      <a:pt x="11415046" y="1116330"/>
                      <a:pt x="11694700" y="1337215"/>
                    </a:cubicBezTo>
                    <a:cubicBezTo>
                      <a:pt x="11646980" y="1345216"/>
                      <a:pt x="11610404" y="1351312"/>
                      <a:pt x="11577637" y="1356836"/>
                    </a:cubicBezTo>
                    <a:cubicBezTo>
                      <a:pt x="11577637" y="1660589"/>
                      <a:pt x="11577637" y="1960817"/>
                      <a:pt x="11577637" y="2261330"/>
                    </a:cubicBezTo>
                    <a:cubicBezTo>
                      <a:pt x="11783186" y="2261330"/>
                      <a:pt x="11980830" y="2261330"/>
                      <a:pt x="12179332" y="2261330"/>
                    </a:cubicBezTo>
                    <a:cubicBezTo>
                      <a:pt x="12179332" y="2240375"/>
                      <a:pt x="12179332" y="2222278"/>
                      <a:pt x="12179332" y="2194751"/>
                    </a:cubicBezTo>
                    <a:cubicBezTo>
                      <a:pt x="12002929" y="2194846"/>
                      <a:pt x="11829288" y="2194846"/>
                      <a:pt x="11651647" y="2194846"/>
                    </a:cubicBezTo>
                    <a:close/>
                    <a:moveTo>
                      <a:pt x="7525322" y="2265426"/>
                    </a:moveTo>
                    <a:cubicBezTo>
                      <a:pt x="7486365" y="2263902"/>
                      <a:pt x="7447883" y="2249138"/>
                      <a:pt x="7403592" y="2239137"/>
                    </a:cubicBezTo>
                    <a:cubicBezTo>
                      <a:pt x="7402354" y="2240947"/>
                      <a:pt x="7395306" y="2251329"/>
                      <a:pt x="7388543" y="2261807"/>
                    </a:cubicBezTo>
                    <a:cubicBezTo>
                      <a:pt x="7348728" y="2322671"/>
                      <a:pt x="7282529" y="2338483"/>
                      <a:pt x="7219379" y="2302288"/>
                    </a:cubicBezTo>
                    <a:cubicBezTo>
                      <a:pt x="7173087" y="2275713"/>
                      <a:pt x="7160324" y="2240375"/>
                      <a:pt x="7189280" y="2195322"/>
                    </a:cubicBezTo>
                    <a:cubicBezTo>
                      <a:pt x="7219188" y="2148745"/>
                      <a:pt x="7219855" y="2113026"/>
                      <a:pt x="7173754" y="2077212"/>
                    </a:cubicBezTo>
                    <a:cubicBezTo>
                      <a:pt x="7148037" y="2057305"/>
                      <a:pt x="7138797" y="2027777"/>
                      <a:pt x="7157371" y="1996726"/>
                    </a:cubicBezTo>
                    <a:cubicBezTo>
                      <a:pt x="7180612" y="1957769"/>
                      <a:pt x="7218998" y="1940433"/>
                      <a:pt x="7258812" y="1956054"/>
                    </a:cubicBezTo>
                    <a:cubicBezTo>
                      <a:pt x="7302342" y="1973104"/>
                      <a:pt x="7323963" y="1965674"/>
                      <a:pt x="7350728" y="1927384"/>
                    </a:cubicBezTo>
                    <a:cubicBezTo>
                      <a:pt x="7380828" y="1884236"/>
                      <a:pt x="7451503" y="1884998"/>
                      <a:pt x="7491889" y="1919478"/>
                    </a:cubicBezTo>
                    <a:cubicBezTo>
                      <a:pt x="7522750" y="1945862"/>
                      <a:pt x="7522940" y="1976914"/>
                      <a:pt x="7502843" y="2008442"/>
                    </a:cubicBezTo>
                    <a:cubicBezTo>
                      <a:pt x="7487793" y="2032064"/>
                      <a:pt x="7469315" y="2053590"/>
                      <a:pt x="7448265" y="2081498"/>
                    </a:cubicBezTo>
                    <a:cubicBezTo>
                      <a:pt x="7483983" y="2090071"/>
                      <a:pt x="7515320" y="2092643"/>
                      <a:pt x="7541610" y="2105406"/>
                    </a:cubicBezTo>
                    <a:cubicBezTo>
                      <a:pt x="7565327" y="2116931"/>
                      <a:pt x="7592949" y="2135791"/>
                      <a:pt x="7602284" y="2158365"/>
                    </a:cubicBezTo>
                    <a:cubicBezTo>
                      <a:pt x="7631906" y="2229993"/>
                      <a:pt x="7603998" y="2268569"/>
                      <a:pt x="7525322" y="226542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BC96EC3A-4C34-4FB1-8BF7-4E99E4D00539}"/>
                  </a:ext>
                </a:extLst>
              </p:cNvPr>
              <p:cNvSpPr/>
              <p:nvPr/>
            </p:nvSpPr>
            <p:spPr>
              <a:xfrm>
                <a:off x="1461861" y="4018679"/>
                <a:ext cx="1501936" cy="651147"/>
              </a:xfrm>
              <a:custGeom>
                <a:avLst/>
                <a:gdLst>
                  <a:gd name="connsiteX0" fmla="*/ 1065787 w 1501936"/>
                  <a:gd name="connsiteY0" fmla="*/ 375012 h 651147"/>
                  <a:gd name="connsiteX1" fmla="*/ 878144 w 1501936"/>
                  <a:gd name="connsiteY1" fmla="*/ 171939 h 651147"/>
                  <a:gd name="connsiteX2" fmla="*/ 828710 w 1501936"/>
                  <a:gd name="connsiteY2" fmla="*/ 48781 h 651147"/>
                  <a:gd name="connsiteX3" fmla="*/ 458949 w 1501936"/>
                  <a:gd name="connsiteY3" fmla="*/ 112598 h 651147"/>
                  <a:gd name="connsiteX4" fmla="*/ 404561 w 1501936"/>
                  <a:gd name="connsiteY4" fmla="*/ 151651 h 651147"/>
                  <a:gd name="connsiteX5" fmla="*/ 227301 w 1501936"/>
                  <a:gd name="connsiteY5" fmla="*/ 331768 h 651147"/>
                  <a:gd name="connsiteX6" fmla="*/ 178343 w 1501936"/>
                  <a:gd name="connsiteY6" fmla="*/ 368344 h 651147"/>
                  <a:gd name="connsiteX7" fmla="*/ 35 w 1501936"/>
                  <a:gd name="connsiteY7" fmla="*/ 367868 h 651147"/>
                  <a:gd name="connsiteX8" fmla="*/ 64043 w 1501936"/>
                  <a:gd name="connsiteY8" fmla="*/ 441782 h 651147"/>
                  <a:gd name="connsiteX9" fmla="*/ 196916 w 1501936"/>
                  <a:gd name="connsiteY9" fmla="*/ 447592 h 651147"/>
                  <a:gd name="connsiteX10" fmla="*/ 253400 w 1501936"/>
                  <a:gd name="connsiteY10" fmla="*/ 473881 h 651147"/>
                  <a:gd name="connsiteX11" fmla="*/ 415229 w 1501936"/>
                  <a:gd name="connsiteY11" fmla="*/ 556177 h 651147"/>
                  <a:gd name="connsiteX12" fmla="*/ 489905 w 1501936"/>
                  <a:gd name="connsiteY12" fmla="*/ 590277 h 651147"/>
                  <a:gd name="connsiteX13" fmla="*/ 670690 w 1501936"/>
                  <a:gd name="connsiteY13" fmla="*/ 644665 h 651147"/>
                  <a:gd name="connsiteX14" fmla="*/ 855951 w 1501936"/>
                  <a:gd name="connsiteY14" fmla="*/ 591801 h 651147"/>
                  <a:gd name="connsiteX15" fmla="*/ 1045213 w 1501936"/>
                  <a:gd name="connsiteY15" fmla="*/ 466452 h 651147"/>
                  <a:gd name="connsiteX16" fmla="*/ 1093505 w 1501936"/>
                  <a:gd name="connsiteY16" fmla="*/ 448545 h 651147"/>
                  <a:gd name="connsiteX17" fmla="*/ 1431071 w 1501936"/>
                  <a:gd name="connsiteY17" fmla="*/ 443878 h 651147"/>
                  <a:gd name="connsiteX18" fmla="*/ 1501937 w 1501936"/>
                  <a:gd name="connsiteY18" fmla="*/ 443878 h 651147"/>
                  <a:gd name="connsiteX19" fmla="*/ 1496031 w 1501936"/>
                  <a:gd name="connsiteY19" fmla="*/ 354057 h 651147"/>
                  <a:gd name="connsiteX20" fmla="*/ 1065787 w 1501936"/>
                  <a:gd name="connsiteY20" fmla="*/ 375012 h 651147"/>
                  <a:gd name="connsiteX21" fmla="*/ 961583 w 1501936"/>
                  <a:gd name="connsiteY21" fmla="*/ 478739 h 651147"/>
                  <a:gd name="connsiteX22" fmla="*/ 830424 w 1501936"/>
                  <a:gd name="connsiteY22" fmla="*/ 495217 h 651147"/>
                  <a:gd name="connsiteX23" fmla="*/ 758796 w 1501936"/>
                  <a:gd name="connsiteY23" fmla="*/ 520459 h 651147"/>
                  <a:gd name="connsiteX24" fmla="*/ 536578 w 1501936"/>
                  <a:gd name="connsiteY24" fmla="*/ 519220 h 651147"/>
                  <a:gd name="connsiteX25" fmla="*/ 481047 w 1501936"/>
                  <a:gd name="connsiteY25" fmla="*/ 491598 h 651147"/>
                  <a:gd name="connsiteX26" fmla="*/ 363985 w 1501936"/>
                  <a:gd name="connsiteY26" fmla="*/ 458927 h 651147"/>
                  <a:gd name="connsiteX27" fmla="*/ 294167 w 1501936"/>
                  <a:gd name="connsiteY27" fmla="*/ 308908 h 651147"/>
                  <a:gd name="connsiteX28" fmla="*/ 403323 w 1501936"/>
                  <a:gd name="connsiteY28" fmla="*/ 227755 h 651147"/>
                  <a:gd name="connsiteX29" fmla="*/ 445900 w 1501936"/>
                  <a:gd name="connsiteY29" fmla="*/ 225279 h 651147"/>
                  <a:gd name="connsiteX30" fmla="*/ 509717 w 1501936"/>
                  <a:gd name="connsiteY30" fmla="*/ 164033 h 651147"/>
                  <a:gd name="connsiteX31" fmla="*/ 610111 w 1501936"/>
                  <a:gd name="connsiteY31" fmla="*/ 64783 h 651147"/>
                  <a:gd name="connsiteX32" fmla="*/ 628970 w 1501936"/>
                  <a:gd name="connsiteY32" fmla="*/ 62592 h 651147"/>
                  <a:gd name="connsiteX33" fmla="*/ 800420 w 1501936"/>
                  <a:gd name="connsiteY33" fmla="*/ 242995 h 651147"/>
                  <a:gd name="connsiteX34" fmla="*/ 914244 w 1501936"/>
                  <a:gd name="connsiteY34" fmla="*/ 261379 h 651147"/>
                  <a:gd name="connsiteX35" fmla="*/ 961583 w 1501936"/>
                  <a:gd name="connsiteY35" fmla="*/ 478739 h 651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501936" h="651147">
                    <a:moveTo>
                      <a:pt x="1065787" y="375012"/>
                    </a:moveTo>
                    <a:cubicBezTo>
                      <a:pt x="1074645" y="267284"/>
                      <a:pt x="1047880" y="238709"/>
                      <a:pt x="878144" y="171939"/>
                    </a:cubicBezTo>
                    <a:cubicBezTo>
                      <a:pt x="887574" y="121171"/>
                      <a:pt x="870905" y="79642"/>
                      <a:pt x="828710" y="48781"/>
                    </a:cubicBezTo>
                    <a:cubicBezTo>
                      <a:pt x="711838" y="-36754"/>
                      <a:pt x="541340" y="-6274"/>
                      <a:pt x="458949" y="112598"/>
                    </a:cubicBezTo>
                    <a:cubicBezTo>
                      <a:pt x="446757" y="130219"/>
                      <a:pt x="424278" y="149174"/>
                      <a:pt x="404561" y="151651"/>
                    </a:cubicBezTo>
                    <a:cubicBezTo>
                      <a:pt x="296262" y="165271"/>
                      <a:pt x="243494" y="230232"/>
                      <a:pt x="227301" y="331768"/>
                    </a:cubicBezTo>
                    <a:cubicBezTo>
                      <a:pt x="222443" y="361867"/>
                      <a:pt x="206441" y="369106"/>
                      <a:pt x="178343" y="368344"/>
                    </a:cubicBezTo>
                    <a:cubicBezTo>
                      <a:pt x="119954" y="366630"/>
                      <a:pt x="61566" y="367868"/>
                      <a:pt x="35" y="367868"/>
                    </a:cubicBezTo>
                    <a:cubicBezTo>
                      <a:pt x="-251" y="439972"/>
                      <a:pt x="-251" y="439877"/>
                      <a:pt x="64043" y="441782"/>
                    </a:cubicBezTo>
                    <a:cubicBezTo>
                      <a:pt x="108429" y="443115"/>
                      <a:pt x="153006" y="442449"/>
                      <a:pt x="196916" y="447592"/>
                    </a:cubicBezTo>
                    <a:cubicBezTo>
                      <a:pt x="216728" y="449878"/>
                      <a:pt x="239969" y="459689"/>
                      <a:pt x="253400" y="473881"/>
                    </a:cubicBezTo>
                    <a:cubicBezTo>
                      <a:pt x="298167" y="521030"/>
                      <a:pt x="352079" y="545128"/>
                      <a:pt x="415229" y="556177"/>
                    </a:cubicBezTo>
                    <a:cubicBezTo>
                      <a:pt x="441709" y="560845"/>
                      <a:pt x="473141" y="571417"/>
                      <a:pt x="489905" y="590277"/>
                    </a:cubicBezTo>
                    <a:cubicBezTo>
                      <a:pt x="540388" y="647332"/>
                      <a:pt x="601348" y="661143"/>
                      <a:pt x="670690" y="644665"/>
                    </a:cubicBezTo>
                    <a:cubicBezTo>
                      <a:pt x="733079" y="629806"/>
                      <a:pt x="793372" y="605993"/>
                      <a:pt x="855951" y="591801"/>
                    </a:cubicBezTo>
                    <a:cubicBezTo>
                      <a:pt x="935771" y="573703"/>
                      <a:pt x="1008732" y="550558"/>
                      <a:pt x="1045213" y="466452"/>
                    </a:cubicBezTo>
                    <a:cubicBezTo>
                      <a:pt x="1050071" y="455308"/>
                      <a:pt x="1076741" y="448926"/>
                      <a:pt x="1093505" y="448545"/>
                    </a:cubicBezTo>
                    <a:cubicBezTo>
                      <a:pt x="1205995" y="445783"/>
                      <a:pt x="1318485" y="445116"/>
                      <a:pt x="1431071" y="443878"/>
                    </a:cubicBezTo>
                    <a:cubicBezTo>
                      <a:pt x="1452788" y="443687"/>
                      <a:pt x="1474409" y="443878"/>
                      <a:pt x="1501937" y="443878"/>
                    </a:cubicBezTo>
                    <a:cubicBezTo>
                      <a:pt x="1499746" y="411302"/>
                      <a:pt x="1498127" y="385585"/>
                      <a:pt x="1496031" y="354057"/>
                    </a:cubicBezTo>
                    <a:cubicBezTo>
                      <a:pt x="1348965" y="361201"/>
                      <a:pt x="1207519" y="368059"/>
                      <a:pt x="1065787" y="375012"/>
                    </a:cubicBezTo>
                    <a:close/>
                    <a:moveTo>
                      <a:pt x="961583" y="478739"/>
                    </a:moveTo>
                    <a:cubicBezTo>
                      <a:pt x="922721" y="514267"/>
                      <a:pt x="874620" y="503314"/>
                      <a:pt x="830424" y="495217"/>
                    </a:cubicBezTo>
                    <a:cubicBezTo>
                      <a:pt x="798706" y="489407"/>
                      <a:pt x="780132" y="492646"/>
                      <a:pt x="758796" y="520459"/>
                    </a:cubicBezTo>
                    <a:cubicBezTo>
                      <a:pt x="708885" y="585514"/>
                      <a:pt x="591537" y="581133"/>
                      <a:pt x="536578" y="519220"/>
                    </a:cubicBezTo>
                    <a:cubicBezTo>
                      <a:pt x="523814" y="504838"/>
                      <a:pt x="500764" y="497694"/>
                      <a:pt x="481047" y="491598"/>
                    </a:cubicBezTo>
                    <a:cubicBezTo>
                      <a:pt x="442376" y="479501"/>
                      <a:pt x="399989" y="476167"/>
                      <a:pt x="363985" y="458927"/>
                    </a:cubicBezTo>
                    <a:cubicBezTo>
                      <a:pt x="300453" y="428638"/>
                      <a:pt x="281308" y="380155"/>
                      <a:pt x="294167" y="308908"/>
                    </a:cubicBezTo>
                    <a:cubicBezTo>
                      <a:pt x="302453" y="263188"/>
                      <a:pt x="336553" y="237566"/>
                      <a:pt x="403323" y="227755"/>
                    </a:cubicBezTo>
                    <a:cubicBezTo>
                      <a:pt x="417325" y="225755"/>
                      <a:pt x="431708" y="224898"/>
                      <a:pt x="445900" y="225279"/>
                    </a:cubicBezTo>
                    <a:cubicBezTo>
                      <a:pt x="488381" y="226517"/>
                      <a:pt x="514575" y="217849"/>
                      <a:pt x="509717" y="164033"/>
                    </a:cubicBezTo>
                    <a:cubicBezTo>
                      <a:pt x="505717" y="119837"/>
                      <a:pt x="554771" y="77451"/>
                      <a:pt x="610111" y="64783"/>
                    </a:cubicBezTo>
                    <a:cubicBezTo>
                      <a:pt x="616207" y="63354"/>
                      <a:pt x="622589" y="62782"/>
                      <a:pt x="628970" y="62592"/>
                    </a:cubicBezTo>
                    <a:cubicBezTo>
                      <a:pt x="763273" y="57829"/>
                      <a:pt x="769369" y="83261"/>
                      <a:pt x="800420" y="242995"/>
                    </a:cubicBezTo>
                    <a:cubicBezTo>
                      <a:pt x="839949" y="249091"/>
                      <a:pt x="878430" y="250615"/>
                      <a:pt x="914244" y="261379"/>
                    </a:cubicBezTo>
                    <a:cubicBezTo>
                      <a:pt x="1007113" y="289382"/>
                      <a:pt x="1033497" y="413017"/>
                      <a:pt x="961583" y="4787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AB0E521-CD3E-4FD6-9F3E-CA06053109D8}"/>
                  </a:ext>
                </a:extLst>
              </p:cNvPr>
              <p:cNvSpPr/>
              <p:nvPr/>
            </p:nvSpPr>
            <p:spPr>
              <a:xfrm>
                <a:off x="6176771" y="3760278"/>
                <a:ext cx="403193" cy="432816"/>
              </a:xfrm>
              <a:custGeom>
                <a:avLst/>
                <a:gdLst>
                  <a:gd name="connsiteX0" fmla="*/ 0 w 403193"/>
                  <a:gd name="connsiteY0" fmla="*/ 432816 h 432816"/>
                  <a:gd name="connsiteX1" fmla="*/ 403193 w 403193"/>
                  <a:gd name="connsiteY1" fmla="*/ 432816 h 432816"/>
                  <a:gd name="connsiteX2" fmla="*/ 403193 w 403193"/>
                  <a:gd name="connsiteY2" fmla="*/ 0 h 432816"/>
                  <a:gd name="connsiteX3" fmla="*/ 0 w 403193"/>
                  <a:gd name="connsiteY3" fmla="*/ 0 h 432816"/>
                  <a:gd name="connsiteX4" fmla="*/ 0 w 403193"/>
                  <a:gd name="connsiteY4" fmla="*/ 432816 h 432816"/>
                  <a:gd name="connsiteX5" fmla="*/ 80867 w 403193"/>
                  <a:gd name="connsiteY5" fmla="*/ 88297 h 432816"/>
                  <a:gd name="connsiteX6" fmla="*/ 326708 w 403193"/>
                  <a:gd name="connsiteY6" fmla="*/ 88297 h 432816"/>
                  <a:gd name="connsiteX7" fmla="*/ 326708 w 403193"/>
                  <a:gd name="connsiteY7" fmla="*/ 351854 h 432816"/>
                  <a:gd name="connsiteX8" fmla="*/ 80867 w 403193"/>
                  <a:gd name="connsiteY8" fmla="*/ 351854 h 432816"/>
                  <a:gd name="connsiteX9" fmla="*/ 80867 w 403193"/>
                  <a:gd name="connsiteY9" fmla="*/ 88297 h 43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3193" h="432816">
                    <a:moveTo>
                      <a:pt x="0" y="432816"/>
                    </a:moveTo>
                    <a:cubicBezTo>
                      <a:pt x="136017" y="432816"/>
                      <a:pt x="268320" y="432816"/>
                      <a:pt x="403193" y="432816"/>
                    </a:cubicBezTo>
                    <a:cubicBezTo>
                      <a:pt x="403193" y="287179"/>
                      <a:pt x="403193" y="144304"/>
                      <a:pt x="403193" y="0"/>
                    </a:cubicBezTo>
                    <a:cubicBezTo>
                      <a:pt x="266795" y="0"/>
                      <a:pt x="133445" y="0"/>
                      <a:pt x="0" y="0"/>
                    </a:cubicBezTo>
                    <a:cubicBezTo>
                      <a:pt x="0" y="146495"/>
                      <a:pt x="0" y="289465"/>
                      <a:pt x="0" y="432816"/>
                    </a:cubicBezTo>
                    <a:close/>
                    <a:moveTo>
                      <a:pt x="80867" y="88297"/>
                    </a:moveTo>
                    <a:cubicBezTo>
                      <a:pt x="161925" y="88297"/>
                      <a:pt x="242888" y="88297"/>
                      <a:pt x="326708" y="88297"/>
                    </a:cubicBezTo>
                    <a:cubicBezTo>
                      <a:pt x="326708" y="175355"/>
                      <a:pt x="326708" y="261557"/>
                      <a:pt x="326708" y="351854"/>
                    </a:cubicBezTo>
                    <a:cubicBezTo>
                      <a:pt x="245745" y="351854"/>
                      <a:pt x="164783" y="351854"/>
                      <a:pt x="80867" y="351854"/>
                    </a:cubicBezTo>
                    <a:cubicBezTo>
                      <a:pt x="80867" y="264795"/>
                      <a:pt x="80867" y="178499"/>
                      <a:pt x="80867" y="8829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ED7841AD-8D78-4E13-ACCF-569C0A6CFA2D}"/>
                  </a:ext>
                </a:extLst>
              </p:cNvPr>
              <p:cNvSpPr/>
              <p:nvPr/>
            </p:nvSpPr>
            <p:spPr>
              <a:xfrm>
                <a:off x="1120901" y="3701700"/>
                <a:ext cx="439864" cy="445293"/>
              </a:xfrm>
              <a:custGeom>
                <a:avLst/>
                <a:gdLst>
                  <a:gd name="connsiteX0" fmla="*/ 439865 w 439864"/>
                  <a:gd name="connsiteY0" fmla="*/ 0 h 445293"/>
                  <a:gd name="connsiteX1" fmla="*/ 0 w 439864"/>
                  <a:gd name="connsiteY1" fmla="*/ 0 h 445293"/>
                  <a:gd name="connsiteX2" fmla="*/ 0 w 439864"/>
                  <a:gd name="connsiteY2" fmla="*/ 445294 h 445293"/>
                  <a:gd name="connsiteX3" fmla="*/ 439865 w 439864"/>
                  <a:gd name="connsiteY3" fmla="*/ 445294 h 445293"/>
                  <a:gd name="connsiteX4" fmla="*/ 439865 w 439864"/>
                  <a:gd name="connsiteY4" fmla="*/ 0 h 445293"/>
                  <a:gd name="connsiteX5" fmla="*/ 375857 w 439864"/>
                  <a:gd name="connsiteY5" fmla="*/ 383572 h 445293"/>
                  <a:gd name="connsiteX6" fmla="*/ 57626 w 439864"/>
                  <a:gd name="connsiteY6" fmla="*/ 383572 h 445293"/>
                  <a:gd name="connsiteX7" fmla="*/ 57626 w 439864"/>
                  <a:gd name="connsiteY7" fmla="*/ 56674 h 445293"/>
                  <a:gd name="connsiteX8" fmla="*/ 375857 w 439864"/>
                  <a:gd name="connsiteY8" fmla="*/ 56674 h 445293"/>
                  <a:gd name="connsiteX9" fmla="*/ 375857 w 439864"/>
                  <a:gd name="connsiteY9" fmla="*/ 383572 h 44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39864" h="445293">
                    <a:moveTo>
                      <a:pt x="439865" y="0"/>
                    </a:moveTo>
                    <a:cubicBezTo>
                      <a:pt x="289655" y="0"/>
                      <a:pt x="144970" y="0"/>
                      <a:pt x="0" y="0"/>
                    </a:cubicBezTo>
                    <a:cubicBezTo>
                      <a:pt x="0" y="150495"/>
                      <a:pt x="0" y="296989"/>
                      <a:pt x="0" y="445294"/>
                    </a:cubicBezTo>
                    <a:cubicBezTo>
                      <a:pt x="147733" y="445294"/>
                      <a:pt x="292513" y="445294"/>
                      <a:pt x="439865" y="445294"/>
                    </a:cubicBezTo>
                    <a:cubicBezTo>
                      <a:pt x="439865" y="295846"/>
                      <a:pt x="439865" y="149447"/>
                      <a:pt x="439865" y="0"/>
                    </a:cubicBezTo>
                    <a:close/>
                    <a:moveTo>
                      <a:pt x="375857" y="383572"/>
                    </a:moveTo>
                    <a:cubicBezTo>
                      <a:pt x="270891" y="383572"/>
                      <a:pt x="165830" y="383572"/>
                      <a:pt x="57626" y="383572"/>
                    </a:cubicBezTo>
                    <a:cubicBezTo>
                      <a:pt x="57626" y="275749"/>
                      <a:pt x="57626" y="168878"/>
                      <a:pt x="57626" y="56674"/>
                    </a:cubicBezTo>
                    <a:cubicBezTo>
                      <a:pt x="164782" y="56674"/>
                      <a:pt x="268795" y="56674"/>
                      <a:pt x="375857" y="56674"/>
                    </a:cubicBezTo>
                    <a:cubicBezTo>
                      <a:pt x="375857" y="165544"/>
                      <a:pt x="375857" y="272605"/>
                      <a:pt x="375857" y="38357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0896096-0D55-4A71-9FC7-57D00BB847E9}"/>
                  </a:ext>
                </a:extLst>
              </p:cNvPr>
              <p:cNvSpPr/>
              <p:nvPr/>
            </p:nvSpPr>
            <p:spPr>
              <a:xfrm>
                <a:off x="9326117" y="3991736"/>
                <a:ext cx="306324" cy="505110"/>
              </a:xfrm>
              <a:custGeom>
                <a:avLst/>
                <a:gdLst>
                  <a:gd name="connsiteX0" fmla="*/ 0 w 306324"/>
                  <a:gd name="connsiteY0" fmla="*/ 502444 h 505110"/>
                  <a:gd name="connsiteX1" fmla="*/ 62675 w 306324"/>
                  <a:gd name="connsiteY1" fmla="*/ 502444 h 505110"/>
                  <a:gd name="connsiteX2" fmla="*/ 62675 w 306324"/>
                  <a:gd name="connsiteY2" fmla="*/ 65722 h 505110"/>
                  <a:gd name="connsiteX3" fmla="*/ 240982 w 306324"/>
                  <a:gd name="connsiteY3" fmla="*/ 65722 h 505110"/>
                  <a:gd name="connsiteX4" fmla="*/ 240982 w 306324"/>
                  <a:gd name="connsiteY4" fmla="*/ 505111 h 505110"/>
                  <a:gd name="connsiteX5" fmla="*/ 306324 w 306324"/>
                  <a:gd name="connsiteY5" fmla="*/ 505111 h 505110"/>
                  <a:gd name="connsiteX6" fmla="*/ 306324 w 306324"/>
                  <a:gd name="connsiteY6" fmla="*/ 0 h 505110"/>
                  <a:gd name="connsiteX7" fmla="*/ 95 w 306324"/>
                  <a:gd name="connsiteY7" fmla="*/ 0 h 505110"/>
                  <a:gd name="connsiteX8" fmla="*/ 0 w 306324"/>
                  <a:gd name="connsiteY8" fmla="*/ 502444 h 505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24" h="505110">
                    <a:moveTo>
                      <a:pt x="0" y="502444"/>
                    </a:moveTo>
                    <a:cubicBezTo>
                      <a:pt x="21527" y="502444"/>
                      <a:pt x="39529" y="502444"/>
                      <a:pt x="62675" y="502444"/>
                    </a:cubicBezTo>
                    <a:cubicBezTo>
                      <a:pt x="62675" y="353949"/>
                      <a:pt x="62675" y="209264"/>
                      <a:pt x="62675" y="65722"/>
                    </a:cubicBezTo>
                    <a:cubicBezTo>
                      <a:pt x="122587" y="65722"/>
                      <a:pt x="177165" y="65722"/>
                      <a:pt x="240982" y="65722"/>
                    </a:cubicBezTo>
                    <a:cubicBezTo>
                      <a:pt x="240982" y="214693"/>
                      <a:pt x="240982" y="359378"/>
                      <a:pt x="240982" y="505111"/>
                    </a:cubicBezTo>
                    <a:cubicBezTo>
                      <a:pt x="267558" y="505111"/>
                      <a:pt x="284798" y="505111"/>
                      <a:pt x="306324" y="505111"/>
                    </a:cubicBezTo>
                    <a:cubicBezTo>
                      <a:pt x="306324" y="334042"/>
                      <a:pt x="306324" y="167354"/>
                      <a:pt x="306324" y="0"/>
                    </a:cubicBezTo>
                    <a:cubicBezTo>
                      <a:pt x="202216" y="0"/>
                      <a:pt x="101632" y="0"/>
                      <a:pt x="95" y="0"/>
                    </a:cubicBezTo>
                    <a:cubicBezTo>
                      <a:pt x="0" y="169735"/>
                      <a:pt x="0" y="336518"/>
                      <a:pt x="0" y="5024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C931D9C-0FE7-4A0D-918A-72E4DA09CCBD}"/>
                  </a:ext>
                </a:extLst>
              </p:cNvPr>
              <p:cNvSpPr/>
              <p:nvPr/>
            </p:nvSpPr>
            <p:spPr>
              <a:xfrm>
                <a:off x="3383184" y="3968495"/>
                <a:ext cx="307181" cy="501681"/>
              </a:xfrm>
              <a:custGeom>
                <a:avLst/>
                <a:gdLst>
                  <a:gd name="connsiteX0" fmla="*/ 0 w 307181"/>
                  <a:gd name="connsiteY0" fmla="*/ 499777 h 501681"/>
                  <a:gd name="connsiteX1" fmla="*/ 60484 w 307181"/>
                  <a:gd name="connsiteY1" fmla="*/ 499777 h 501681"/>
                  <a:gd name="connsiteX2" fmla="*/ 60484 w 307181"/>
                  <a:gd name="connsiteY2" fmla="*/ 65246 h 501681"/>
                  <a:gd name="connsiteX3" fmla="*/ 239268 w 307181"/>
                  <a:gd name="connsiteY3" fmla="*/ 65246 h 501681"/>
                  <a:gd name="connsiteX4" fmla="*/ 239268 w 307181"/>
                  <a:gd name="connsiteY4" fmla="*/ 501682 h 501681"/>
                  <a:gd name="connsiteX5" fmla="*/ 307181 w 307181"/>
                  <a:gd name="connsiteY5" fmla="*/ 501682 h 501681"/>
                  <a:gd name="connsiteX6" fmla="*/ 307181 w 307181"/>
                  <a:gd name="connsiteY6" fmla="*/ 0 h 501681"/>
                  <a:gd name="connsiteX7" fmla="*/ 0 w 307181"/>
                  <a:gd name="connsiteY7" fmla="*/ 0 h 501681"/>
                  <a:gd name="connsiteX8" fmla="*/ 0 w 307181"/>
                  <a:gd name="connsiteY8" fmla="*/ 499777 h 501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7181" h="501681">
                    <a:moveTo>
                      <a:pt x="0" y="499777"/>
                    </a:moveTo>
                    <a:cubicBezTo>
                      <a:pt x="20860" y="499777"/>
                      <a:pt x="38576" y="499777"/>
                      <a:pt x="60484" y="499777"/>
                    </a:cubicBezTo>
                    <a:cubicBezTo>
                      <a:pt x="60484" y="352806"/>
                      <a:pt x="60484" y="209359"/>
                      <a:pt x="60484" y="65246"/>
                    </a:cubicBezTo>
                    <a:cubicBezTo>
                      <a:pt x="120301" y="65246"/>
                      <a:pt x="175927" y="65246"/>
                      <a:pt x="239268" y="65246"/>
                    </a:cubicBezTo>
                    <a:cubicBezTo>
                      <a:pt x="239268" y="213550"/>
                      <a:pt x="239268" y="356807"/>
                      <a:pt x="239268" y="501682"/>
                    </a:cubicBezTo>
                    <a:cubicBezTo>
                      <a:pt x="265843" y="501682"/>
                      <a:pt x="284512" y="501682"/>
                      <a:pt x="307181" y="501682"/>
                    </a:cubicBezTo>
                    <a:cubicBezTo>
                      <a:pt x="307181" y="331661"/>
                      <a:pt x="307181" y="166402"/>
                      <a:pt x="307181" y="0"/>
                    </a:cubicBezTo>
                    <a:cubicBezTo>
                      <a:pt x="203263" y="0"/>
                      <a:pt x="102679" y="0"/>
                      <a:pt x="0" y="0"/>
                    </a:cubicBezTo>
                    <a:cubicBezTo>
                      <a:pt x="0" y="168307"/>
                      <a:pt x="0" y="333470"/>
                      <a:pt x="0" y="49977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92D41DB-1F48-4F4F-99CB-968E965B78DA}"/>
                  </a:ext>
                </a:extLst>
              </p:cNvPr>
              <p:cNvSpPr/>
              <p:nvPr/>
            </p:nvSpPr>
            <p:spPr>
              <a:xfrm>
                <a:off x="10724577" y="3285743"/>
                <a:ext cx="316706" cy="401383"/>
              </a:xfrm>
              <a:custGeom>
                <a:avLst/>
                <a:gdLst>
                  <a:gd name="connsiteX0" fmla="*/ 87631 w 316706"/>
                  <a:gd name="connsiteY0" fmla="*/ 0 h 401383"/>
                  <a:gd name="connsiteX1" fmla="*/ 0 w 316706"/>
                  <a:gd name="connsiteY1" fmla="*/ 87440 h 401383"/>
                  <a:gd name="connsiteX2" fmla="*/ 0 w 316706"/>
                  <a:gd name="connsiteY2" fmla="*/ 401384 h 401383"/>
                  <a:gd name="connsiteX3" fmla="*/ 316706 w 316706"/>
                  <a:gd name="connsiteY3" fmla="*/ 401384 h 401383"/>
                  <a:gd name="connsiteX4" fmla="*/ 316706 w 316706"/>
                  <a:gd name="connsiteY4" fmla="*/ 0 h 401383"/>
                  <a:gd name="connsiteX5" fmla="*/ 87631 w 316706"/>
                  <a:gd name="connsiteY5" fmla="*/ 0 h 401383"/>
                  <a:gd name="connsiteX6" fmla="*/ 253080 w 316706"/>
                  <a:gd name="connsiteY6" fmla="*/ 364903 h 401383"/>
                  <a:gd name="connsiteX7" fmla="*/ 66961 w 316706"/>
                  <a:gd name="connsiteY7" fmla="*/ 364903 h 401383"/>
                  <a:gd name="connsiteX8" fmla="*/ 66961 w 316706"/>
                  <a:gd name="connsiteY8" fmla="*/ 66961 h 401383"/>
                  <a:gd name="connsiteX9" fmla="*/ 253080 w 316706"/>
                  <a:gd name="connsiteY9" fmla="*/ 66961 h 401383"/>
                  <a:gd name="connsiteX10" fmla="*/ 253080 w 316706"/>
                  <a:gd name="connsiteY10" fmla="*/ 364903 h 401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706" h="401383">
                    <a:moveTo>
                      <a:pt x="87631" y="0"/>
                    </a:moveTo>
                    <a:cubicBezTo>
                      <a:pt x="0" y="0"/>
                      <a:pt x="0" y="0"/>
                      <a:pt x="0" y="87440"/>
                    </a:cubicBezTo>
                    <a:cubicBezTo>
                      <a:pt x="0" y="191452"/>
                      <a:pt x="0" y="295561"/>
                      <a:pt x="0" y="401384"/>
                    </a:cubicBezTo>
                    <a:cubicBezTo>
                      <a:pt x="108967" y="401384"/>
                      <a:pt x="212217" y="401384"/>
                      <a:pt x="316706" y="401384"/>
                    </a:cubicBezTo>
                    <a:cubicBezTo>
                      <a:pt x="316706" y="267272"/>
                      <a:pt x="316706" y="136684"/>
                      <a:pt x="316706" y="0"/>
                    </a:cubicBezTo>
                    <a:cubicBezTo>
                      <a:pt x="238792" y="0"/>
                      <a:pt x="163259" y="0"/>
                      <a:pt x="87631" y="0"/>
                    </a:cubicBezTo>
                    <a:close/>
                    <a:moveTo>
                      <a:pt x="253080" y="364903"/>
                    </a:moveTo>
                    <a:cubicBezTo>
                      <a:pt x="190500" y="364903"/>
                      <a:pt x="130016" y="364903"/>
                      <a:pt x="66961" y="364903"/>
                    </a:cubicBezTo>
                    <a:cubicBezTo>
                      <a:pt x="66961" y="265176"/>
                      <a:pt x="66961" y="167926"/>
                      <a:pt x="66961" y="66961"/>
                    </a:cubicBezTo>
                    <a:cubicBezTo>
                      <a:pt x="127826" y="66961"/>
                      <a:pt x="188309" y="66961"/>
                      <a:pt x="253080" y="66961"/>
                    </a:cubicBezTo>
                    <a:cubicBezTo>
                      <a:pt x="253080" y="167354"/>
                      <a:pt x="253080" y="264605"/>
                      <a:pt x="253080" y="3649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7E1D42D-98CB-4468-B155-E6BFB07BF862}"/>
                  </a:ext>
                </a:extLst>
              </p:cNvPr>
              <p:cNvSpPr/>
              <p:nvPr/>
            </p:nvSpPr>
            <p:spPr>
              <a:xfrm>
                <a:off x="10724781" y="3840531"/>
                <a:ext cx="316502" cy="400093"/>
              </a:xfrm>
              <a:custGeom>
                <a:avLst/>
                <a:gdLst>
                  <a:gd name="connsiteX0" fmla="*/ 20847 w 316502"/>
                  <a:gd name="connsiteY0" fmla="*/ 1186 h 400093"/>
                  <a:gd name="connsiteX1" fmla="*/ 940 w 316502"/>
                  <a:gd name="connsiteY1" fmla="*/ 25761 h 400093"/>
                  <a:gd name="connsiteX2" fmla="*/ 82 w 316502"/>
                  <a:gd name="connsiteY2" fmla="*/ 400093 h 400093"/>
                  <a:gd name="connsiteX3" fmla="*/ 316503 w 316502"/>
                  <a:gd name="connsiteY3" fmla="*/ 400093 h 400093"/>
                  <a:gd name="connsiteX4" fmla="*/ 316503 w 316502"/>
                  <a:gd name="connsiteY4" fmla="*/ 139 h 400093"/>
                  <a:gd name="connsiteX5" fmla="*/ 20847 w 316502"/>
                  <a:gd name="connsiteY5" fmla="*/ 1186 h 400093"/>
                  <a:gd name="connsiteX6" fmla="*/ 251161 w 316502"/>
                  <a:gd name="connsiteY6" fmla="*/ 362946 h 400093"/>
                  <a:gd name="connsiteX7" fmla="*/ 67043 w 316502"/>
                  <a:gd name="connsiteY7" fmla="*/ 362946 h 400093"/>
                  <a:gd name="connsiteX8" fmla="*/ 67043 w 316502"/>
                  <a:gd name="connsiteY8" fmla="*/ 66814 h 400093"/>
                  <a:gd name="connsiteX9" fmla="*/ 251161 w 316502"/>
                  <a:gd name="connsiteY9" fmla="*/ 66814 h 400093"/>
                  <a:gd name="connsiteX10" fmla="*/ 251161 w 316502"/>
                  <a:gd name="connsiteY10" fmla="*/ 362946 h 40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16502" h="400093">
                    <a:moveTo>
                      <a:pt x="20847" y="1186"/>
                    </a:moveTo>
                    <a:cubicBezTo>
                      <a:pt x="13799" y="1282"/>
                      <a:pt x="1035" y="17093"/>
                      <a:pt x="940" y="25761"/>
                    </a:cubicBezTo>
                    <a:cubicBezTo>
                      <a:pt x="-393" y="149014"/>
                      <a:pt x="82" y="272268"/>
                      <a:pt x="82" y="400093"/>
                    </a:cubicBezTo>
                    <a:cubicBezTo>
                      <a:pt x="109144" y="400093"/>
                      <a:pt x="211538" y="400093"/>
                      <a:pt x="316503" y="400093"/>
                    </a:cubicBezTo>
                    <a:cubicBezTo>
                      <a:pt x="316503" y="267029"/>
                      <a:pt x="316503" y="136537"/>
                      <a:pt x="316503" y="139"/>
                    </a:cubicBezTo>
                    <a:cubicBezTo>
                      <a:pt x="216301" y="43"/>
                      <a:pt x="118574" y="-433"/>
                      <a:pt x="20847" y="1186"/>
                    </a:cubicBezTo>
                    <a:close/>
                    <a:moveTo>
                      <a:pt x="251161" y="362946"/>
                    </a:moveTo>
                    <a:cubicBezTo>
                      <a:pt x="188964" y="362946"/>
                      <a:pt x="129433" y="362946"/>
                      <a:pt x="67043" y="362946"/>
                    </a:cubicBezTo>
                    <a:cubicBezTo>
                      <a:pt x="67043" y="263791"/>
                      <a:pt x="67043" y="166826"/>
                      <a:pt x="67043" y="66814"/>
                    </a:cubicBezTo>
                    <a:cubicBezTo>
                      <a:pt x="128384" y="66814"/>
                      <a:pt x="187915" y="66814"/>
                      <a:pt x="251161" y="66814"/>
                    </a:cubicBezTo>
                    <a:cubicBezTo>
                      <a:pt x="251161" y="164540"/>
                      <a:pt x="251161" y="261505"/>
                      <a:pt x="251161" y="3629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4DAA618-0956-4364-B59B-6EBC42434118}"/>
                  </a:ext>
                </a:extLst>
              </p:cNvPr>
              <p:cNvSpPr/>
              <p:nvPr/>
            </p:nvSpPr>
            <p:spPr>
              <a:xfrm>
                <a:off x="3224878" y="2810826"/>
                <a:ext cx="310133" cy="398049"/>
              </a:xfrm>
              <a:custGeom>
                <a:avLst/>
                <a:gdLst>
                  <a:gd name="connsiteX0" fmla="*/ 310134 w 310133"/>
                  <a:gd name="connsiteY0" fmla="*/ 0 h 398049"/>
                  <a:gd name="connsiteX1" fmla="*/ 0 w 310133"/>
                  <a:gd name="connsiteY1" fmla="*/ 0 h 398049"/>
                  <a:gd name="connsiteX2" fmla="*/ 0 w 310133"/>
                  <a:gd name="connsiteY2" fmla="*/ 398050 h 398049"/>
                  <a:gd name="connsiteX3" fmla="*/ 310134 w 310133"/>
                  <a:gd name="connsiteY3" fmla="*/ 398050 h 398049"/>
                  <a:gd name="connsiteX4" fmla="*/ 310134 w 310133"/>
                  <a:gd name="connsiteY4" fmla="*/ 0 h 398049"/>
                  <a:gd name="connsiteX5" fmla="*/ 248698 w 310133"/>
                  <a:gd name="connsiteY5" fmla="*/ 360140 h 398049"/>
                  <a:gd name="connsiteX6" fmla="*/ 64961 w 310133"/>
                  <a:gd name="connsiteY6" fmla="*/ 360140 h 398049"/>
                  <a:gd name="connsiteX7" fmla="*/ 64961 w 310133"/>
                  <a:gd name="connsiteY7" fmla="*/ 62865 h 398049"/>
                  <a:gd name="connsiteX8" fmla="*/ 248698 w 310133"/>
                  <a:gd name="connsiteY8" fmla="*/ 62865 h 398049"/>
                  <a:gd name="connsiteX9" fmla="*/ 248698 w 310133"/>
                  <a:gd name="connsiteY9" fmla="*/ 360140 h 398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3" h="398049">
                    <a:moveTo>
                      <a:pt x="310134" y="0"/>
                    </a:moveTo>
                    <a:cubicBezTo>
                      <a:pt x="206502" y="0"/>
                      <a:pt x="105728" y="0"/>
                      <a:pt x="0" y="0"/>
                    </a:cubicBezTo>
                    <a:cubicBezTo>
                      <a:pt x="0" y="134493"/>
                      <a:pt x="0" y="266129"/>
                      <a:pt x="0" y="398050"/>
                    </a:cubicBezTo>
                    <a:cubicBezTo>
                      <a:pt x="105442" y="398050"/>
                      <a:pt x="207359" y="398050"/>
                      <a:pt x="310134" y="398050"/>
                    </a:cubicBezTo>
                    <a:cubicBezTo>
                      <a:pt x="310134" y="263747"/>
                      <a:pt x="310134" y="133160"/>
                      <a:pt x="310134" y="0"/>
                    </a:cubicBezTo>
                    <a:close/>
                    <a:moveTo>
                      <a:pt x="248698" y="360140"/>
                    </a:moveTo>
                    <a:cubicBezTo>
                      <a:pt x="189357" y="360140"/>
                      <a:pt x="128683" y="360140"/>
                      <a:pt x="64961" y="360140"/>
                    </a:cubicBezTo>
                    <a:cubicBezTo>
                      <a:pt x="64961" y="262128"/>
                      <a:pt x="64961" y="164783"/>
                      <a:pt x="64961" y="62865"/>
                    </a:cubicBezTo>
                    <a:cubicBezTo>
                      <a:pt x="127825" y="62865"/>
                      <a:pt x="186309" y="62865"/>
                      <a:pt x="248698" y="62865"/>
                    </a:cubicBezTo>
                    <a:cubicBezTo>
                      <a:pt x="248698" y="161258"/>
                      <a:pt x="248698" y="258509"/>
                      <a:pt x="248698" y="36014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B4D564B-2769-4912-832D-5933F0B7A506}"/>
                  </a:ext>
                </a:extLst>
              </p:cNvPr>
              <p:cNvSpPr/>
              <p:nvPr/>
            </p:nvSpPr>
            <p:spPr>
              <a:xfrm>
                <a:off x="3225069" y="3363848"/>
                <a:ext cx="309752" cy="399573"/>
              </a:xfrm>
              <a:custGeom>
                <a:avLst/>
                <a:gdLst>
                  <a:gd name="connsiteX0" fmla="*/ 309753 w 309752"/>
                  <a:gd name="connsiteY0" fmla="*/ 0 h 399573"/>
                  <a:gd name="connsiteX1" fmla="*/ 0 w 309752"/>
                  <a:gd name="connsiteY1" fmla="*/ 0 h 399573"/>
                  <a:gd name="connsiteX2" fmla="*/ 0 w 309752"/>
                  <a:gd name="connsiteY2" fmla="*/ 399574 h 399573"/>
                  <a:gd name="connsiteX3" fmla="*/ 309753 w 309752"/>
                  <a:gd name="connsiteY3" fmla="*/ 399574 h 399573"/>
                  <a:gd name="connsiteX4" fmla="*/ 309753 w 309752"/>
                  <a:gd name="connsiteY4" fmla="*/ 0 h 399573"/>
                  <a:gd name="connsiteX5" fmla="*/ 248412 w 309752"/>
                  <a:gd name="connsiteY5" fmla="*/ 363379 h 399573"/>
                  <a:gd name="connsiteX6" fmla="*/ 65532 w 309752"/>
                  <a:gd name="connsiteY6" fmla="*/ 363379 h 399573"/>
                  <a:gd name="connsiteX7" fmla="*/ 65532 w 309752"/>
                  <a:gd name="connsiteY7" fmla="*/ 64389 h 399573"/>
                  <a:gd name="connsiteX8" fmla="*/ 248412 w 309752"/>
                  <a:gd name="connsiteY8" fmla="*/ 64389 h 399573"/>
                  <a:gd name="connsiteX9" fmla="*/ 248412 w 309752"/>
                  <a:gd name="connsiteY9" fmla="*/ 363379 h 3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9752" h="399573">
                    <a:moveTo>
                      <a:pt x="309753" y="0"/>
                    </a:moveTo>
                    <a:cubicBezTo>
                      <a:pt x="204597" y="0"/>
                      <a:pt x="102679" y="0"/>
                      <a:pt x="0" y="0"/>
                    </a:cubicBezTo>
                    <a:cubicBezTo>
                      <a:pt x="0" y="134874"/>
                      <a:pt x="0" y="266700"/>
                      <a:pt x="0" y="399574"/>
                    </a:cubicBezTo>
                    <a:cubicBezTo>
                      <a:pt x="104489" y="399574"/>
                      <a:pt x="205264" y="399574"/>
                      <a:pt x="309753" y="399574"/>
                    </a:cubicBezTo>
                    <a:cubicBezTo>
                      <a:pt x="309753" y="263366"/>
                      <a:pt x="309753" y="132779"/>
                      <a:pt x="309753" y="0"/>
                    </a:cubicBezTo>
                    <a:close/>
                    <a:moveTo>
                      <a:pt x="248412" y="363379"/>
                    </a:moveTo>
                    <a:cubicBezTo>
                      <a:pt x="185642" y="363379"/>
                      <a:pt x="127540" y="363379"/>
                      <a:pt x="65532" y="363379"/>
                    </a:cubicBezTo>
                    <a:cubicBezTo>
                      <a:pt x="65532" y="263652"/>
                      <a:pt x="65532" y="165449"/>
                      <a:pt x="65532" y="64389"/>
                    </a:cubicBezTo>
                    <a:cubicBezTo>
                      <a:pt x="125635" y="64389"/>
                      <a:pt x="184976" y="64389"/>
                      <a:pt x="248412" y="64389"/>
                    </a:cubicBezTo>
                    <a:cubicBezTo>
                      <a:pt x="248412" y="162496"/>
                      <a:pt x="248412" y="260699"/>
                      <a:pt x="248412" y="3633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D773893-2E96-4F4B-A1B4-C56767C76ADF}"/>
                  </a:ext>
                </a:extLst>
              </p:cNvPr>
              <p:cNvSpPr/>
              <p:nvPr/>
            </p:nvSpPr>
            <p:spPr>
              <a:xfrm>
                <a:off x="2843212" y="3363657"/>
                <a:ext cx="306514" cy="399954"/>
              </a:xfrm>
              <a:custGeom>
                <a:avLst/>
                <a:gdLst>
                  <a:gd name="connsiteX0" fmla="*/ 0 w 306514"/>
                  <a:gd name="connsiteY0" fmla="*/ 399955 h 399954"/>
                  <a:gd name="connsiteX1" fmla="*/ 306514 w 306514"/>
                  <a:gd name="connsiteY1" fmla="*/ 399955 h 399954"/>
                  <a:gd name="connsiteX2" fmla="*/ 306514 w 306514"/>
                  <a:gd name="connsiteY2" fmla="*/ 0 h 399954"/>
                  <a:gd name="connsiteX3" fmla="*/ 0 w 306514"/>
                  <a:gd name="connsiteY3" fmla="*/ 0 h 399954"/>
                  <a:gd name="connsiteX4" fmla="*/ 0 w 306514"/>
                  <a:gd name="connsiteY4" fmla="*/ 399955 h 399954"/>
                  <a:gd name="connsiteX5" fmla="*/ 52292 w 306514"/>
                  <a:gd name="connsiteY5" fmla="*/ 64199 h 399954"/>
                  <a:gd name="connsiteX6" fmla="*/ 252603 w 306514"/>
                  <a:gd name="connsiteY6" fmla="*/ 64199 h 399954"/>
                  <a:gd name="connsiteX7" fmla="*/ 252603 w 306514"/>
                  <a:gd name="connsiteY7" fmla="*/ 360902 h 399954"/>
                  <a:gd name="connsiteX8" fmla="*/ 52292 w 306514"/>
                  <a:gd name="connsiteY8" fmla="*/ 360902 h 399954"/>
                  <a:gd name="connsiteX9" fmla="*/ 52292 w 306514"/>
                  <a:gd name="connsiteY9" fmla="*/ 64199 h 39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514" h="399954">
                    <a:moveTo>
                      <a:pt x="0" y="399955"/>
                    </a:moveTo>
                    <a:cubicBezTo>
                      <a:pt x="102775" y="399955"/>
                      <a:pt x="202025" y="399955"/>
                      <a:pt x="306514" y="399955"/>
                    </a:cubicBezTo>
                    <a:cubicBezTo>
                      <a:pt x="306514" y="264700"/>
                      <a:pt x="306514" y="133064"/>
                      <a:pt x="306514" y="0"/>
                    </a:cubicBezTo>
                    <a:cubicBezTo>
                      <a:pt x="202597" y="0"/>
                      <a:pt x="102203" y="0"/>
                      <a:pt x="0" y="0"/>
                    </a:cubicBezTo>
                    <a:cubicBezTo>
                      <a:pt x="0" y="134493"/>
                      <a:pt x="0" y="266129"/>
                      <a:pt x="0" y="399955"/>
                    </a:cubicBezTo>
                    <a:close/>
                    <a:moveTo>
                      <a:pt x="52292" y="64199"/>
                    </a:moveTo>
                    <a:cubicBezTo>
                      <a:pt x="118967" y="64199"/>
                      <a:pt x="183166" y="64199"/>
                      <a:pt x="252603" y="64199"/>
                    </a:cubicBezTo>
                    <a:cubicBezTo>
                      <a:pt x="252603" y="164687"/>
                      <a:pt x="252603" y="260699"/>
                      <a:pt x="252603" y="360902"/>
                    </a:cubicBezTo>
                    <a:cubicBezTo>
                      <a:pt x="186880" y="360902"/>
                      <a:pt x="121539" y="360902"/>
                      <a:pt x="52292" y="360902"/>
                    </a:cubicBezTo>
                    <a:cubicBezTo>
                      <a:pt x="52292" y="263271"/>
                      <a:pt x="52292" y="164878"/>
                      <a:pt x="52292" y="64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494F287-753E-4707-A416-11CA2DB81C7F}"/>
                  </a:ext>
                </a:extLst>
              </p:cNvPr>
              <p:cNvSpPr/>
              <p:nvPr/>
            </p:nvSpPr>
            <p:spPr>
              <a:xfrm>
                <a:off x="2842735" y="2810826"/>
                <a:ext cx="307657" cy="398335"/>
              </a:xfrm>
              <a:custGeom>
                <a:avLst/>
                <a:gdLst>
                  <a:gd name="connsiteX0" fmla="*/ 0 w 307657"/>
                  <a:gd name="connsiteY0" fmla="*/ 398336 h 398335"/>
                  <a:gd name="connsiteX1" fmla="*/ 307657 w 307657"/>
                  <a:gd name="connsiteY1" fmla="*/ 398336 h 398335"/>
                  <a:gd name="connsiteX2" fmla="*/ 307657 w 307657"/>
                  <a:gd name="connsiteY2" fmla="*/ 0 h 398335"/>
                  <a:gd name="connsiteX3" fmla="*/ 0 w 307657"/>
                  <a:gd name="connsiteY3" fmla="*/ 0 h 398335"/>
                  <a:gd name="connsiteX4" fmla="*/ 0 w 307657"/>
                  <a:gd name="connsiteY4" fmla="*/ 398336 h 398335"/>
                  <a:gd name="connsiteX5" fmla="*/ 49149 w 307657"/>
                  <a:gd name="connsiteY5" fmla="*/ 63818 h 398335"/>
                  <a:gd name="connsiteX6" fmla="*/ 251269 w 307657"/>
                  <a:gd name="connsiteY6" fmla="*/ 63818 h 398335"/>
                  <a:gd name="connsiteX7" fmla="*/ 251269 w 307657"/>
                  <a:gd name="connsiteY7" fmla="*/ 363950 h 398335"/>
                  <a:gd name="connsiteX8" fmla="*/ 70866 w 307657"/>
                  <a:gd name="connsiteY8" fmla="*/ 362903 h 398335"/>
                  <a:gd name="connsiteX9" fmla="*/ 50101 w 307657"/>
                  <a:gd name="connsiteY9" fmla="*/ 339566 h 398335"/>
                  <a:gd name="connsiteX10" fmla="*/ 49149 w 307657"/>
                  <a:gd name="connsiteY10" fmla="*/ 63818 h 398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7657" h="398335">
                    <a:moveTo>
                      <a:pt x="0" y="398336"/>
                    </a:moveTo>
                    <a:cubicBezTo>
                      <a:pt x="105251" y="398336"/>
                      <a:pt x="205930" y="398336"/>
                      <a:pt x="307657" y="398336"/>
                    </a:cubicBezTo>
                    <a:cubicBezTo>
                      <a:pt x="307657" y="264033"/>
                      <a:pt x="307657" y="133255"/>
                      <a:pt x="307657" y="0"/>
                    </a:cubicBezTo>
                    <a:cubicBezTo>
                      <a:pt x="204216" y="0"/>
                      <a:pt x="103632" y="0"/>
                      <a:pt x="0" y="0"/>
                    </a:cubicBezTo>
                    <a:cubicBezTo>
                      <a:pt x="0" y="133160"/>
                      <a:pt x="0" y="264033"/>
                      <a:pt x="0" y="398336"/>
                    </a:cubicBezTo>
                    <a:close/>
                    <a:moveTo>
                      <a:pt x="49149" y="63818"/>
                    </a:moveTo>
                    <a:cubicBezTo>
                      <a:pt x="118967" y="63818"/>
                      <a:pt x="183261" y="63818"/>
                      <a:pt x="251269" y="63818"/>
                    </a:cubicBezTo>
                    <a:cubicBezTo>
                      <a:pt x="251269" y="160973"/>
                      <a:pt x="251269" y="258032"/>
                      <a:pt x="251269" y="363950"/>
                    </a:cubicBezTo>
                    <a:cubicBezTo>
                      <a:pt x="190119" y="363950"/>
                      <a:pt x="130397" y="364808"/>
                      <a:pt x="70866" y="362903"/>
                    </a:cubicBezTo>
                    <a:cubicBezTo>
                      <a:pt x="63341" y="362617"/>
                      <a:pt x="50197" y="347758"/>
                      <a:pt x="50101" y="339566"/>
                    </a:cubicBezTo>
                    <a:cubicBezTo>
                      <a:pt x="48577" y="248317"/>
                      <a:pt x="49149" y="157163"/>
                      <a:pt x="49149" y="6381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EF81D00-5919-45A3-B2CA-ADA01E787FD9}"/>
                  </a:ext>
                </a:extLst>
              </p:cNvPr>
              <p:cNvSpPr/>
              <p:nvPr/>
            </p:nvSpPr>
            <p:spPr>
              <a:xfrm>
                <a:off x="4597907" y="3932300"/>
                <a:ext cx="210692" cy="214598"/>
              </a:xfrm>
              <a:custGeom>
                <a:avLst/>
                <a:gdLst>
                  <a:gd name="connsiteX0" fmla="*/ 0 w 210692"/>
                  <a:gd name="connsiteY0" fmla="*/ 214598 h 214598"/>
                  <a:gd name="connsiteX1" fmla="*/ 210693 w 210692"/>
                  <a:gd name="connsiteY1" fmla="*/ 214598 h 214598"/>
                  <a:gd name="connsiteX2" fmla="*/ 210693 w 210692"/>
                  <a:gd name="connsiteY2" fmla="*/ 0 h 214598"/>
                  <a:gd name="connsiteX3" fmla="*/ 0 w 210692"/>
                  <a:gd name="connsiteY3" fmla="*/ 0 h 214598"/>
                  <a:gd name="connsiteX4" fmla="*/ 0 w 210692"/>
                  <a:gd name="connsiteY4" fmla="*/ 214598 h 214598"/>
                  <a:gd name="connsiteX5" fmla="*/ 43529 w 210692"/>
                  <a:gd name="connsiteY5" fmla="*/ 45625 h 214598"/>
                  <a:gd name="connsiteX6" fmla="*/ 172117 w 210692"/>
                  <a:gd name="connsiteY6" fmla="*/ 45625 h 214598"/>
                  <a:gd name="connsiteX7" fmla="*/ 172117 w 210692"/>
                  <a:gd name="connsiteY7" fmla="*/ 175165 h 214598"/>
                  <a:gd name="connsiteX8" fmla="*/ 43529 w 210692"/>
                  <a:gd name="connsiteY8" fmla="*/ 175165 h 214598"/>
                  <a:gd name="connsiteX9" fmla="*/ 43529 w 210692"/>
                  <a:gd name="connsiteY9" fmla="*/ 45625 h 21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0692" h="214598">
                    <a:moveTo>
                      <a:pt x="0" y="214598"/>
                    </a:moveTo>
                    <a:cubicBezTo>
                      <a:pt x="72485" y="214598"/>
                      <a:pt x="141256" y="214598"/>
                      <a:pt x="210693" y="214598"/>
                    </a:cubicBezTo>
                    <a:cubicBezTo>
                      <a:pt x="210693" y="141446"/>
                      <a:pt x="210693" y="71533"/>
                      <a:pt x="210693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4390"/>
                      <a:pt x="0" y="144304"/>
                      <a:pt x="0" y="214598"/>
                    </a:cubicBezTo>
                    <a:close/>
                    <a:moveTo>
                      <a:pt x="43529" y="45625"/>
                    </a:moveTo>
                    <a:cubicBezTo>
                      <a:pt x="87821" y="45625"/>
                      <a:pt x="128302" y="45625"/>
                      <a:pt x="172117" y="45625"/>
                    </a:cubicBezTo>
                    <a:cubicBezTo>
                      <a:pt x="172117" y="88773"/>
                      <a:pt x="172117" y="130397"/>
                      <a:pt x="172117" y="175165"/>
                    </a:cubicBezTo>
                    <a:cubicBezTo>
                      <a:pt x="130112" y="175165"/>
                      <a:pt x="88487" y="175165"/>
                      <a:pt x="43529" y="175165"/>
                    </a:cubicBezTo>
                    <a:cubicBezTo>
                      <a:pt x="43529" y="133255"/>
                      <a:pt x="43529" y="91726"/>
                      <a:pt x="43529" y="4562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868AEEDF-1086-4F94-B3F6-E4C97FB5AABE}"/>
                  </a:ext>
                </a:extLst>
              </p:cNvPr>
              <p:cNvSpPr/>
              <p:nvPr/>
            </p:nvSpPr>
            <p:spPr>
              <a:xfrm>
                <a:off x="4321682" y="4089367"/>
                <a:ext cx="211455" cy="214503"/>
              </a:xfrm>
              <a:custGeom>
                <a:avLst/>
                <a:gdLst>
                  <a:gd name="connsiteX0" fmla="*/ 0 w 211455"/>
                  <a:gd name="connsiteY0" fmla="*/ 214503 h 214503"/>
                  <a:gd name="connsiteX1" fmla="*/ 211455 w 211455"/>
                  <a:gd name="connsiteY1" fmla="*/ 214503 h 214503"/>
                  <a:gd name="connsiteX2" fmla="*/ 211455 w 211455"/>
                  <a:gd name="connsiteY2" fmla="*/ 0 h 214503"/>
                  <a:gd name="connsiteX3" fmla="*/ 0 w 211455"/>
                  <a:gd name="connsiteY3" fmla="*/ 0 h 214503"/>
                  <a:gd name="connsiteX4" fmla="*/ 0 w 211455"/>
                  <a:gd name="connsiteY4" fmla="*/ 214503 h 214503"/>
                  <a:gd name="connsiteX5" fmla="*/ 44387 w 211455"/>
                  <a:gd name="connsiteY5" fmla="*/ 43243 h 214503"/>
                  <a:gd name="connsiteX6" fmla="*/ 172974 w 211455"/>
                  <a:gd name="connsiteY6" fmla="*/ 43243 h 214503"/>
                  <a:gd name="connsiteX7" fmla="*/ 172974 w 211455"/>
                  <a:gd name="connsiteY7" fmla="*/ 174974 h 214503"/>
                  <a:gd name="connsiteX8" fmla="*/ 44387 w 211455"/>
                  <a:gd name="connsiteY8" fmla="*/ 174974 h 214503"/>
                  <a:gd name="connsiteX9" fmla="*/ 44387 w 211455"/>
                  <a:gd name="connsiteY9" fmla="*/ 43243 h 2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455" h="214503">
                    <a:moveTo>
                      <a:pt x="0" y="214503"/>
                    </a:moveTo>
                    <a:cubicBezTo>
                      <a:pt x="72676" y="214503"/>
                      <a:pt x="142399" y="214503"/>
                      <a:pt x="211455" y="214503"/>
                    </a:cubicBezTo>
                    <a:cubicBezTo>
                      <a:pt x="211455" y="140494"/>
                      <a:pt x="211455" y="70485"/>
                      <a:pt x="211455" y="0"/>
                    </a:cubicBezTo>
                    <a:cubicBezTo>
                      <a:pt x="139351" y="0"/>
                      <a:pt x="71819" y="0"/>
                      <a:pt x="0" y="0"/>
                    </a:cubicBezTo>
                    <a:cubicBezTo>
                      <a:pt x="0" y="75057"/>
                      <a:pt x="0" y="143827"/>
                      <a:pt x="0" y="214503"/>
                    </a:cubicBezTo>
                    <a:close/>
                    <a:moveTo>
                      <a:pt x="44387" y="43243"/>
                    </a:moveTo>
                    <a:cubicBezTo>
                      <a:pt x="89059" y="43243"/>
                      <a:pt x="129540" y="43243"/>
                      <a:pt x="172974" y="43243"/>
                    </a:cubicBezTo>
                    <a:cubicBezTo>
                      <a:pt x="172974" y="87535"/>
                      <a:pt x="172974" y="129540"/>
                      <a:pt x="172974" y="174974"/>
                    </a:cubicBezTo>
                    <a:cubicBezTo>
                      <a:pt x="130969" y="174974"/>
                      <a:pt x="89154" y="174974"/>
                      <a:pt x="44387" y="174974"/>
                    </a:cubicBezTo>
                    <a:cubicBezTo>
                      <a:pt x="44387" y="131731"/>
                      <a:pt x="44387" y="89821"/>
                      <a:pt x="44387" y="4324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A94CAC8-E8A5-49C7-B244-06F19A441665}"/>
                </a:ext>
              </a:extLst>
            </p:cNvPr>
            <p:cNvSpPr/>
            <p:nvPr/>
          </p:nvSpPr>
          <p:spPr>
            <a:xfrm>
              <a:off x="217009" y="6590579"/>
              <a:ext cx="8595360" cy="274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95ADEB8C-AD93-4AD0-ACCC-91EC5F97F972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08008" y="2041585"/>
            <a:ext cx="2495909" cy="2720402"/>
          </a:xfrm>
          <a:prstGeom prst="roundRect">
            <a:avLst>
              <a:gd name="adj" fmla="val 23136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B7D468-ABA1-4DA3-AC12-61796A036550}"/>
              </a:ext>
            </a:extLst>
          </p:cNvPr>
          <p:cNvGrpSpPr/>
          <p:nvPr userDrawn="1"/>
        </p:nvGrpSpPr>
        <p:grpSpPr>
          <a:xfrm>
            <a:off x="5025430" y="1811548"/>
            <a:ext cx="2141139" cy="4273339"/>
            <a:chOff x="8767903" y="321074"/>
            <a:chExt cx="1576880" cy="3147176"/>
          </a:xfrm>
        </p:grpSpPr>
        <p:sp>
          <p:nvSpPr>
            <p:cNvPr id="3" name="Graphic 2">
              <a:extLst>
                <a:ext uri="{FF2B5EF4-FFF2-40B4-BE49-F238E27FC236}">
                  <a16:creationId xmlns:a16="http://schemas.microsoft.com/office/drawing/2014/main" id="{8AAC526D-2A7A-42A9-BE9B-BD1272DA44CD}"/>
                </a:ext>
              </a:extLst>
            </p:cNvPr>
            <p:cNvSpPr/>
            <p:nvPr/>
          </p:nvSpPr>
          <p:spPr>
            <a:xfrm>
              <a:off x="8770344" y="321074"/>
              <a:ext cx="1572693" cy="314717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2168B064-B9E0-4E3F-B86D-43B4CA5D1C6B}"/>
                </a:ext>
              </a:extLst>
            </p:cNvPr>
            <p:cNvSpPr/>
            <p:nvPr/>
          </p:nvSpPr>
          <p:spPr>
            <a:xfrm>
              <a:off x="8791415" y="337581"/>
              <a:ext cx="1530550" cy="3114132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ED46E54B-7F75-457D-9ACB-DB8A6EA35E4B}"/>
                </a:ext>
              </a:extLst>
            </p:cNvPr>
            <p:cNvSpPr/>
            <p:nvPr/>
          </p:nvSpPr>
          <p:spPr>
            <a:xfrm>
              <a:off x="8828208" y="391212"/>
              <a:ext cx="1456965" cy="3006900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BA45497E-F497-4CDB-AA35-874DCA7EE5F8}"/>
                </a:ext>
              </a:extLst>
            </p:cNvPr>
            <p:cNvSpPr/>
            <p:nvPr/>
          </p:nvSpPr>
          <p:spPr>
            <a:xfrm>
              <a:off x="8768181" y="768762"/>
              <a:ext cx="11004" cy="107231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DD30B4CE-F4C0-41A0-9C41-FFA117C0B3A6}"/>
                </a:ext>
              </a:extLst>
            </p:cNvPr>
            <p:cNvSpPr/>
            <p:nvPr/>
          </p:nvSpPr>
          <p:spPr>
            <a:xfrm>
              <a:off x="8768181" y="998836"/>
              <a:ext cx="15362" cy="213875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308AB5A1-6055-4196-A98B-BA120E3139D3}"/>
                </a:ext>
              </a:extLst>
            </p:cNvPr>
            <p:cNvSpPr/>
            <p:nvPr/>
          </p:nvSpPr>
          <p:spPr>
            <a:xfrm>
              <a:off x="8768212" y="1014199"/>
              <a:ext cx="8686" cy="17910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9C3B811C-8F34-4BB2-B50F-D529A403A36D}"/>
                </a:ext>
              </a:extLst>
            </p:cNvPr>
            <p:cNvSpPr/>
            <p:nvPr/>
          </p:nvSpPr>
          <p:spPr>
            <a:xfrm>
              <a:off x="8767903" y="1284426"/>
              <a:ext cx="15362" cy="213875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0A5AFE8D-B635-4DA2-B03A-E0E1FC6B7579}"/>
                </a:ext>
              </a:extLst>
            </p:cNvPr>
            <p:cNvSpPr/>
            <p:nvPr/>
          </p:nvSpPr>
          <p:spPr>
            <a:xfrm>
              <a:off x="8767903" y="1299789"/>
              <a:ext cx="8686" cy="17910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590C149C-2122-41E1-95F8-59B92706F501}"/>
                </a:ext>
              </a:extLst>
            </p:cNvPr>
            <p:cNvSpPr/>
            <p:nvPr/>
          </p:nvSpPr>
          <p:spPr>
            <a:xfrm>
              <a:off x="10329421" y="1070581"/>
              <a:ext cx="15362" cy="346145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06777F74-ABC4-4E87-9B0E-B639F57610F7}"/>
                </a:ext>
              </a:extLst>
            </p:cNvPr>
            <p:cNvSpPr/>
            <p:nvPr/>
          </p:nvSpPr>
          <p:spPr>
            <a:xfrm>
              <a:off x="10336097" y="1095464"/>
              <a:ext cx="8686" cy="289856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5F135457-EB1C-4597-89CF-6B7F15B0F465}"/>
                </a:ext>
              </a:extLst>
            </p:cNvPr>
            <p:cNvSpPr/>
            <p:nvPr/>
          </p:nvSpPr>
          <p:spPr>
            <a:xfrm>
              <a:off x="10332357" y="1794710"/>
              <a:ext cx="12426" cy="237214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4D96FA4B-753E-47DC-9DF6-A6E1E7A44562}"/>
                </a:ext>
              </a:extLst>
            </p:cNvPr>
            <p:cNvSpPr/>
            <p:nvPr/>
          </p:nvSpPr>
          <p:spPr>
            <a:xfrm>
              <a:off x="10337736" y="1811742"/>
              <a:ext cx="7047" cy="198636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CA6C24-0EB8-4FE6-9337-DD83252F55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4828" y="385879"/>
              <a:ext cx="73152" cy="73152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FF4FA60-CCB7-4779-844C-DABAA7A29E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9400" y="390451"/>
              <a:ext cx="64008" cy="64008"/>
            </a:xfrm>
            <a:prstGeom prst="ellipse">
              <a:avLst/>
            </a:pr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10BBBE-8A59-4105-ABCD-95E30AFE29F2}"/>
                </a:ext>
              </a:extLst>
            </p:cNvPr>
            <p:cNvSpPr/>
            <p:nvPr/>
          </p:nvSpPr>
          <p:spPr>
            <a:xfrm>
              <a:off x="9835585" y="406636"/>
              <a:ext cx="31638" cy="3163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B81DCB9-389F-46AD-851C-0E6F1FCAA117}"/>
                </a:ext>
              </a:extLst>
            </p:cNvPr>
            <p:cNvSpPr/>
            <p:nvPr/>
          </p:nvSpPr>
          <p:spPr>
            <a:xfrm>
              <a:off x="9843013" y="414064"/>
              <a:ext cx="16783" cy="16783"/>
            </a:xfrm>
            <a:prstGeom prst="ellipse">
              <a:avLst/>
            </a:prstGeom>
            <a:solidFill>
              <a:srgbClr val="081422"/>
            </a:solidFill>
            <a:ln w="6728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Graphic 2">
              <a:extLst>
                <a:ext uri="{FF2B5EF4-FFF2-40B4-BE49-F238E27FC236}">
                  <a16:creationId xmlns:a16="http://schemas.microsoft.com/office/drawing/2014/main" id="{23DD4EBE-4ACC-43BB-9F4E-D49137A3D189}"/>
                </a:ext>
              </a:extLst>
            </p:cNvPr>
            <p:cNvSpPr/>
            <p:nvPr userDrawn="1"/>
          </p:nvSpPr>
          <p:spPr>
            <a:xfrm flipH="1">
              <a:off x="8769273" y="781546"/>
              <a:ext cx="5842" cy="8166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160E3F1-06FD-477D-9A10-DAC162F1E4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C81DCB-DB21-4BAA-B204-B77D940CD00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114617" y="1910281"/>
            <a:ext cx="1978315" cy="4082869"/>
          </a:xfrm>
          <a:custGeom>
            <a:avLst/>
            <a:gdLst>
              <a:gd name="connsiteX0" fmla="*/ 212793 w 1978315"/>
              <a:gd name="connsiteY0" fmla="*/ 0 h 4082869"/>
              <a:gd name="connsiteX1" fmla="*/ 401205 w 1978315"/>
              <a:gd name="connsiteY1" fmla="*/ 0 h 4082869"/>
              <a:gd name="connsiteX2" fmla="*/ 419469 w 1978315"/>
              <a:gd name="connsiteY2" fmla="*/ 17293 h 4082869"/>
              <a:gd name="connsiteX3" fmla="*/ 560800 w 1978315"/>
              <a:gd name="connsiteY3" fmla="*/ 151101 h 4082869"/>
              <a:gd name="connsiteX4" fmla="*/ 1408650 w 1978315"/>
              <a:gd name="connsiteY4" fmla="*/ 151101 h 4082869"/>
              <a:gd name="connsiteX5" fmla="*/ 1549980 w 1978315"/>
              <a:gd name="connsiteY5" fmla="*/ 17293 h 4082869"/>
              <a:gd name="connsiteX6" fmla="*/ 1568244 w 1978315"/>
              <a:gd name="connsiteY6" fmla="*/ 0 h 4082869"/>
              <a:gd name="connsiteX7" fmla="*/ 1765522 w 1978315"/>
              <a:gd name="connsiteY7" fmla="*/ 0 h 4082869"/>
              <a:gd name="connsiteX8" fmla="*/ 1978315 w 1978315"/>
              <a:gd name="connsiteY8" fmla="*/ 201468 h 4082869"/>
              <a:gd name="connsiteX9" fmla="*/ 1978315 w 1978315"/>
              <a:gd name="connsiteY9" fmla="*/ 3881401 h 4082869"/>
              <a:gd name="connsiteX10" fmla="*/ 1765522 w 1978315"/>
              <a:gd name="connsiteY10" fmla="*/ 4082869 h 4082869"/>
              <a:gd name="connsiteX11" fmla="*/ 212793 w 1978315"/>
              <a:gd name="connsiteY11" fmla="*/ 4082869 h 4082869"/>
              <a:gd name="connsiteX12" fmla="*/ 0 w 1978315"/>
              <a:gd name="connsiteY12" fmla="*/ 3881401 h 4082869"/>
              <a:gd name="connsiteX13" fmla="*/ 0 w 1978315"/>
              <a:gd name="connsiteY13" fmla="*/ 201468 h 4082869"/>
              <a:gd name="connsiteX14" fmla="*/ 212793 w 1978315"/>
              <a:gd name="connsiteY14" fmla="*/ 0 h 408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978315" h="4082869">
                <a:moveTo>
                  <a:pt x="212793" y="0"/>
                </a:moveTo>
                <a:lnTo>
                  <a:pt x="401205" y="0"/>
                </a:lnTo>
                <a:cubicBezTo>
                  <a:pt x="411268" y="0"/>
                  <a:pt x="419469" y="7723"/>
                  <a:pt x="419469" y="17293"/>
                </a:cubicBezTo>
                <a:cubicBezTo>
                  <a:pt x="419469" y="91206"/>
                  <a:pt x="482776" y="151101"/>
                  <a:pt x="560800" y="151101"/>
                </a:cubicBezTo>
                <a:lnTo>
                  <a:pt x="1408650" y="151101"/>
                </a:lnTo>
                <a:cubicBezTo>
                  <a:pt x="1486718" y="151101"/>
                  <a:pt x="1549980" y="91164"/>
                  <a:pt x="1549980" y="17293"/>
                </a:cubicBezTo>
                <a:cubicBezTo>
                  <a:pt x="1549980" y="7765"/>
                  <a:pt x="1558137" y="0"/>
                  <a:pt x="1568244" y="0"/>
                </a:cubicBezTo>
                <a:lnTo>
                  <a:pt x="1765522" y="0"/>
                </a:lnTo>
                <a:cubicBezTo>
                  <a:pt x="1883046" y="0"/>
                  <a:pt x="1978315" y="90199"/>
                  <a:pt x="1978315" y="201468"/>
                </a:cubicBezTo>
                <a:lnTo>
                  <a:pt x="1978315" y="3881401"/>
                </a:lnTo>
                <a:cubicBezTo>
                  <a:pt x="1978315" y="3992670"/>
                  <a:pt x="1883046" y="4082869"/>
                  <a:pt x="1765522" y="4082869"/>
                </a:cubicBezTo>
                <a:lnTo>
                  <a:pt x="212793" y="4082869"/>
                </a:lnTo>
                <a:cubicBezTo>
                  <a:pt x="95269" y="4082869"/>
                  <a:pt x="0" y="3992670"/>
                  <a:pt x="0" y="3881401"/>
                </a:cubicBezTo>
                <a:lnTo>
                  <a:pt x="0" y="201468"/>
                </a:lnTo>
                <a:cubicBezTo>
                  <a:pt x="0" y="90199"/>
                  <a:pt x="95269" y="0"/>
                  <a:pt x="21279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916CF46-488F-4FE9-AC4F-77C801637CC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433765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300018D-2AC9-4C33-A2A4-14E16B23CF56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687580" y="1927727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83A6509-CC82-452F-A286-7F70AAC6899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517800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D913B264-7134-4405-93DF-EA96EEC4F27F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2771615" y="1899542"/>
            <a:ext cx="1978315" cy="40828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0612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94D49-183A-4365-96D6-B33C07985F6A}"/>
              </a:ext>
            </a:extLst>
          </p:cNvPr>
          <p:cNvGrpSpPr/>
          <p:nvPr userDrawn="1"/>
        </p:nvGrpSpPr>
        <p:grpSpPr>
          <a:xfrm>
            <a:off x="580088" y="2381012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6771F85-DDF8-4764-8B76-1D77A9550D2A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734D713-E6C3-4764-B335-9D9AF5B0E6B9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F8FA88E-FF89-425A-9014-08212454B1FB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E4D8639-EB76-4FF7-9267-DDC1B5D2BE06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9574EA-2C25-4B0D-999B-2710CFA14841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57BF4F-66F9-4E51-A539-A4891B1E9A0E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C320298-1486-4E7C-AC6C-8F11EB94FB8F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127145D-AAD2-47C1-A972-A3B974161EF0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5E6DA8-84C4-4E2F-B213-4F858F59A4ED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77075A0-712D-4531-BBC9-3EC543786C7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C55E5D04-EE1E-44BD-B44B-9EE4F146258F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9D4491-05E6-422F-822D-B7FE4D14E193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D25E28DE-8369-4103-BE13-2A3D28BEAE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9848" y="2528816"/>
            <a:ext cx="3856505" cy="237744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D14DFB5-AD90-487E-B326-EBB32CEF79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253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018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84577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3" y="0"/>
            <a:ext cx="10032437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0435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3774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mond 10"/>
          <p:cNvSpPr/>
          <p:nvPr userDrawn="1"/>
        </p:nvSpPr>
        <p:spPr>
          <a:xfrm>
            <a:off x="4271797" y="-3096"/>
            <a:ext cx="3600000" cy="2408459"/>
          </a:xfrm>
          <a:custGeom>
            <a:avLst/>
            <a:gdLst/>
            <a:ahLst/>
            <a:cxnLst/>
            <a:rect l="l" t="t" r="r" b="b"/>
            <a:pathLst>
              <a:path w="2700000" h="1806344">
                <a:moveTo>
                  <a:pt x="456344" y="0"/>
                </a:moveTo>
                <a:lnTo>
                  <a:pt x="2243656" y="0"/>
                </a:lnTo>
                <a:lnTo>
                  <a:pt x="2700000" y="456344"/>
                </a:lnTo>
                <a:lnTo>
                  <a:pt x="1350000" y="1806344"/>
                </a:lnTo>
                <a:lnTo>
                  <a:pt x="0" y="45634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5" name="Isosceles Triangle 4"/>
          <p:cNvSpPr/>
          <p:nvPr userDrawn="1"/>
        </p:nvSpPr>
        <p:spPr>
          <a:xfrm>
            <a:off x="4995856" y="5774987"/>
            <a:ext cx="2200288" cy="1083013"/>
          </a:xfrm>
          <a:prstGeom prst="triangl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6" name="Isosceles Triangle 5"/>
          <p:cNvSpPr/>
          <p:nvPr userDrawn="1"/>
        </p:nvSpPr>
        <p:spPr>
          <a:xfrm>
            <a:off x="5388864" y="5991747"/>
            <a:ext cx="1414272" cy="73914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28FC5FB3-D739-474A-9148-1ABF4FC27690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391797" y="2"/>
            <a:ext cx="3360000" cy="2281540"/>
          </a:xfrm>
          <a:custGeom>
            <a:avLst/>
            <a:gdLst>
              <a:gd name="connsiteX0" fmla="*/ 442968 w 2520000"/>
              <a:gd name="connsiteY0" fmla="*/ 0 h 1711155"/>
              <a:gd name="connsiteX1" fmla="*/ 985757 w 2520000"/>
              <a:gd name="connsiteY1" fmla="*/ 0 h 1711155"/>
              <a:gd name="connsiteX2" fmla="*/ 2080270 w 2520000"/>
              <a:gd name="connsiteY2" fmla="*/ 4702 h 1711155"/>
              <a:gd name="connsiteX3" fmla="*/ 2520000 w 2520000"/>
              <a:gd name="connsiteY3" fmla="*/ 451155 h 1711155"/>
              <a:gd name="connsiteX4" fmla="*/ 1260000 w 2520000"/>
              <a:gd name="connsiteY4" fmla="*/ 1711155 h 1711155"/>
              <a:gd name="connsiteX5" fmla="*/ 0 w 2520000"/>
              <a:gd name="connsiteY5" fmla="*/ 451155 h 171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000" h="1711155">
                <a:moveTo>
                  <a:pt x="442968" y="0"/>
                </a:moveTo>
                <a:lnTo>
                  <a:pt x="985757" y="0"/>
                </a:lnTo>
                <a:lnTo>
                  <a:pt x="2080270" y="4702"/>
                </a:lnTo>
                <a:lnTo>
                  <a:pt x="2520000" y="451155"/>
                </a:lnTo>
                <a:lnTo>
                  <a:pt x="1260000" y="1711155"/>
                </a:lnTo>
                <a:lnTo>
                  <a:pt x="0" y="4511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41223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754504" y="1568923"/>
            <a:ext cx="2495680" cy="40683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483807" y="1568082"/>
            <a:ext cx="2495680" cy="4068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6213109" y="1567241"/>
            <a:ext cx="2495680" cy="40683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8942413" y="1566400"/>
            <a:ext cx="2495680" cy="4068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1100634" y="1760114"/>
            <a:ext cx="1803423" cy="18034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9288543" y="1760114"/>
            <a:ext cx="1803423" cy="18034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829937" y="1760114"/>
            <a:ext cx="1803423" cy="18034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559239" y="1760114"/>
            <a:ext cx="1803423" cy="180342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2433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KBM-정애\014-Fullppt\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006" y="601925"/>
            <a:ext cx="4376052" cy="436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1818277" y="779695"/>
            <a:ext cx="3988779" cy="27690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524606" y="1727823"/>
            <a:ext cx="4074453" cy="2975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731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1179288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1" name="Picture 4" descr="D:\KBM-정애\014-Fullppt\PNG이미지\노트북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34" y="3332990"/>
            <a:ext cx="4800533" cy="2441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005067" y="3686187"/>
            <a:ext cx="2281876" cy="16662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7334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12192000" cy="36216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06636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30904" y="743253"/>
            <a:ext cx="3456000" cy="53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016597" y="743253"/>
            <a:ext cx="3456000" cy="537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373751" y="743253"/>
            <a:ext cx="3456000" cy="537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37134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079867" y="1"/>
            <a:ext cx="4032267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96133" y="3429000"/>
            <a:ext cx="201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4079867" y="3429000"/>
            <a:ext cx="2016000" cy="3429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39720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234683" y="720001"/>
            <a:ext cx="2304256" cy="5382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738405" y="720001"/>
            <a:ext cx="2304256" cy="5382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730960" y="720001"/>
            <a:ext cx="2304256" cy="53827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1148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532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C7304401-68B8-4E0E-A9DB-540B76DF928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751851" y="851534"/>
            <a:ext cx="5760640" cy="6006468"/>
          </a:xfrm>
          <a:custGeom>
            <a:avLst/>
            <a:gdLst>
              <a:gd name="connsiteX0" fmla="*/ 2160240 w 4320480"/>
              <a:gd name="connsiteY0" fmla="*/ 0 h 4504851"/>
              <a:gd name="connsiteX1" fmla="*/ 4320480 w 4320480"/>
              <a:gd name="connsiteY1" fmla="*/ 4504851 h 4504851"/>
              <a:gd name="connsiteX2" fmla="*/ 0 w 4320480"/>
              <a:gd name="connsiteY2" fmla="*/ 4504851 h 45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0480" h="4504851">
                <a:moveTo>
                  <a:pt x="2160240" y="0"/>
                </a:moveTo>
                <a:lnTo>
                  <a:pt x="4320480" y="4504851"/>
                </a:lnTo>
                <a:lnTo>
                  <a:pt x="0" y="45048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D2ABAD60-FE41-4786-B9AF-4454375D212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514173" y="2"/>
            <a:ext cx="4677827" cy="5785689"/>
          </a:xfrm>
          <a:custGeom>
            <a:avLst/>
            <a:gdLst>
              <a:gd name="connsiteX0" fmla="*/ 0 w 3508370"/>
              <a:gd name="connsiteY0" fmla="*/ 0 h 4339267"/>
              <a:gd name="connsiteX1" fmla="*/ 3508370 w 3508370"/>
              <a:gd name="connsiteY1" fmla="*/ 0 h 4339267"/>
              <a:gd name="connsiteX2" fmla="*/ 3504823 w 3508370"/>
              <a:gd name="connsiteY2" fmla="*/ 1594801 h 4339267"/>
              <a:gd name="connsiteX3" fmla="*/ 2097974 w 3508370"/>
              <a:gd name="connsiteY3" fmla="*/ 4339267 h 433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8370" h="4339267">
                <a:moveTo>
                  <a:pt x="0" y="0"/>
                </a:moveTo>
                <a:lnTo>
                  <a:pt x="3508370" y="0"/>
                </a:lnTo>
                <a:cubicBezTo>
                  <a:pt x="3507188" y="531600"/>
                  <a:pt x="3506005" y="1063201"/>
                  <a:pt x="3504823" y="1594801"/>
                </a:cubicBezTo>
                <a:lnTo>
                  <a:pt x="2097974" y="43392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657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6768075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25902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40587737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333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3" name="Rounded Rectangle 12"/>
          <p:cNvSpPr/>
          <p:nvPr userDrawn="1"/>
        </p:nvSpPr>
        <p:spPr>
          <a:xfrm>
            <a:off x="472011" y="1508786"/>
            <a:ext cx="3799787" cy="486556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/>
          </a:p>
        </p:txBody>
      </p:sp>
      <p:sp>
        <p:nvSpPr>
          <p:cNvPr id="16" name="Rounded Rectangle 15"/>
          <p:cNvSpPr/>
          <p:nvPr userDrawn="1"/>
        </p:nvSpPr>
        <p:spPr>
          <a:xfrm>
            <a:off x="709243" y="1796667"/>
            <a:ext cx="144693" cy="4320631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7" name="Half Frame 16"/>
          <p:cNvSpPr/>
          <p:nvPr userDrawn="1"/>
        </p:nvSpPr>
        <p:spPr>
          <a:xfrm rot="5400000">
            <a:off x="3456857" y="1650935"/>
            <a:ext cx="669775" cy="669775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3601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 hasCustomPrompt="1"/>
          </p:nvPr>
        </p:nvSpPr>
        <p:spPr>
          <a:xfrm>
            <a:off x="0" y="836712"/>
            <a:ext cx="12192000" cy="711077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 sz="4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3F0AB86-7940-4230-BC06-4EF20DC49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604797"/>
            <a:ext cx="12191999" cy="576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600" b="1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57167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mond 10"/>
          <p:cNvSpPr/>
          <p:nvPr userDrawn="1"/>
        </p:nvSpPr>
        <p:spPr>
          <a:xfrm rot="10800000">
            <a:off x="4296000" y="4449540"/>
            <a:ext cx="3600000" cy="2408459"/>
          </a:xfrm>
          <a:custGeom>
            <a:avLst/>
            <a:gdLst/>
            <a:ahLst/>
            <a:cxnLst/>
            <a:rect l="l" t="t" r="r" b="b"/>
            <a:pathLst>
              <a:path w="2700000" h="1806344">
                <a:moveTo>
                  <a:pt x="456344" y="0"/>
                </a:moveTo>
                <a:lnTo>
                  <a:pt x="2243656" y="0"/>
                </a:lnTo>
                <a:lnTo>
                  <a:pt x="2700000" y="456344"/>
                </a:lnTo>
                <a:lnTo>
                  <a:pt x="1350000" y="1806344"/>
                </a:lnTo>
                <a:lnTo>
                  <a:pt x="0" y="45634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5" name="Isosceles Triangle 4"/>
          <p:cNvSpPr/>
          <p:nvPr userDrawn="1"/>
        </p:nvSpPr>
        <p:spPr>
          <a:xfrm rot="10800000">
            <a:off x="4995856" y="0"/>
            <a:ext cx="2200288" cy="1083013"/>
          </a:xfrm>
          <a:prstGeom prst="triangl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6" name="Isosceles Triangle 5"/>
          <p:cNvSpPr/>
          <p:nvPr userDrawn="1"/>
        </p:nvSpPr>
        <p:spPr>
          <a:xfrm rot="10800000">
            <a:off x="5388864" y="133279"/>
            <a:ext cx="1414272" cy="73914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 dirty="0"/>
          </a:p>
        </p:txBody>
      </p:sp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E48000A-B218-4CCF-8C0E-D9ACDAFA26B8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416000" y="4573651"/>
            <a:ext cx="3360000" cy="2284349"/>
          </a:xfrm>
          <a:custGeom>
            <a:avLst/>
            <a:gdLst>
              <a:gd name="connsiteX0" fmla="*/ 1260000 w 2520000"/>
              <a:gd name="connsiteY0" fmla="*/ 0 h 1713262"/>
              <a:gd name="connsiteX1" fmla="*/ 2520000 w 2520000"/>
              <a:gd name="connsiteY1" fmla="*/ 1260000 h 1713262"/>
              <a:gd name="connsiteX2" fmla="*/ 2066250 w 2520000"/>
              <a:gd name="connsiteY2" fmla="*/ 1713262 h 1713262"/>
              <a:gd name="connsiteX3" fmla="*/ 439730 w 2520000"/>
              <a:gd name="connsiteY3" fmla="*/ 1706453 h 1713262"/>
              <a:gd name="connsiteX4" fmla="*/ 0 w 2520000"/>
              <a:gd name="connsiteY4" fmla="*/ 1260000 h 171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0" h="1713262">
                <a:moveTo>
                  <a:pt x="1260000" y="0"/>
                </a:moveTo>
                <a:lnTo>
                  <a:pt x="2520000" y="1260000"/>
                </a:lnTo>
                <a:lnTo>
                  <a:pt x="2066250" y="1713262"/>
                </a:lnTo>
                <a:lnTo>
                  <a:pt x="439730" y="1706453"/>
                </a:lnTo>
                <a:lnTo>
                  <a:pt x="0" y="126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55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90" r:id="rId2"/>
    <p:sldLayoutId id="2147483654" r:id="rId3"/>
    <p:sldLayoutId id="2147483675" r:id="rId4"/>
    <p:sldLayoutId id="2147483676" r:id="rId5"/>
    <p:sldLayoutId id="2147483678" r:id="rId6"/>
    <p:sldLayoutId id="2147483680" r:id="rId7"/>
    <p:sldLayoutId id="2147483691" r:id="rId8"/>
    <p:sldLayoutId id="2147483682" r:id="rId9"/>
    <p:sldLayoutId id="2147483684" r:id="rId10"/>
    <p:sldLayoutId id="2147483685" r:id="rId11"/>
    <p:sldLayoutId id="2147483686" r:id="rId12"/>
    <p:sldLayoutId id="2147483689" r:id="rId13"/>
    <p:sldLayoutId id="2147483688" r:id="rId14"/>
    <p:sldLayoutId id="2147483687" r:id="rId15"/>
    <p:sldLayoutId id="2147483671" r:id="rId16"/>
    <p:sldLayoutId id="2147483672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0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hd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05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1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44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hd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free-powerpoint-templates-design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763000" y="698500"/>
            <a:ext cx="2794000" cy="5461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660400" y="4826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400" b="1">
                <a:solidFill>
                  <a:srgbClr val="CBD5E1"/>
                </a:solidFill>
                <a:latin typeface="Arial"/>
              </a:rPr>
              <a:t>HỌC VIỆN KỸ THUẬT MẬT MÃ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60400" y="990600"/>
            <a:ext cx="6223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800" b="1">
                <a:solidFill>
                  <a:srgbClr val="FFFFFF"/>
                </a:solidFill>
                <a:latin typeface="Arial"/>
              </a:rPr>
              <a:t>BÁO CÁO ĐỒ ÁN TỐT NGHIỆP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60400" y="1778000"/>
            <a:ext cx="7239000" cy="157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700" b="1">
                <a:solidFill>
                  <a:srgbClr val="FFFFFF"/>
                </a:solidFill>
                <a:latin typeface="Arial"/>
              </a:rPr>
              <a:t>PHÁT TRIỂN ỨNG DỤNG CRM QUẢN LÝ TIN NHẮN KHÁCH HÀNG TẬP TRUNG CHO DOANH NGHIỆP CÓ TÍCH HỢP CHATBOT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11200" y="35814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800" b="1">
                <a:solidFill>
                  <a:srgbClr val="67E8F9"/>
                </a:solidFill>
                <a:latin typeface="Arial"/>
              </a:rPr>
              <a:t>ChatDesk - Omni-channel Chatbot Platform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11200" y="4381500"/>
            <a:ext cx="7112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400">
                <a:solidFill>
                  <a:srgbClr val="E2E8F0"/>
                </a:solidFill>
                <a:latin typeface="Arial"/>
              </a:rPr>
              <a:t>Sinh viên thực hiện: Nguyễn Gia Huy - CT060417</a:t>
            </a:r>
          </a:p>
          <a:p>
            <a:pPr/>
            <a:r>
              <a:rPr lang="vi-VN" sz="1400">
                <a:solidFill>
                  <a:srgbClr val="E2E8F0"/>
                </a:solidFill>
                <a:latin typeface="Arial"/>
              </a:rPr>
              <a:t>Ngành: Công nghệ thông tin</a:t>
            </a:r>
          </a:p>
          <a:p>
            <a:pPr/>
            <a:r>
              <a:rPr lang="vi-VN" sz="1400">
                <a:solidFill>
                  <a:srgbClr val="E2E8F0"/>
                </a:solidFill>
                <a:latin typeface="Arial"/>
              </a:rPr>
              <a:t>Chuyên ngành: Kỹ thuật phần mềm nhúng và di động</a:t>
            </a:r>
          </a:p>
          <a:p>
            <a:pPr/>
            <a:r>
              <a:rPr lang="vi-VN" sz="1400">
                <a:solidFill>
                  <a:srgbClr val="E2E8F0"/>
                </a:solidFill>
                <a:latin typeface="Arial"/>
              </a:rPr>
              <a:t>Người hướng dẫn: TS. Nghiêm Nguyễn Việt Dũng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11200" y="5969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300">
                <a:solidFill>
                  <a:srgbClr val="CBD5E1"/>
                </a:solidFill>
                <a:latin typeface="Arial"/>
              </a:rPr>
              <a:t>Hà Nội, 06-2026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9194800" y="1854200"/>
            <a:ext cx="1905000" cy="2413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800" b="1">
                <a:solidFill>
                  <a:srgbClr val="0F172A"/>
                </a:solidFill>
                <a:latin typeface="Arial"/>
              </a:rPr>
              <a:t>CRM</a:t>
            </a:r>
          </a:p>
          <a:p>
            <a:pPr algn="ctr"/>
            <a:r>
              <a:rPr lang="vi-VN" sz="2800" b="1">
                <a:solidFill>
                  <a:srgbClr val="0F172A"/>
                </a:solidFill>
                <a:latin typeface="Arial"/>
              </a:rPr>
              <a:t>AI</a:t>
            </a:r>
          </a:p>
          <a:p>
            <a:pPr algn="ctr"/>
            <a:r>
              <a:rPr lang="vi-VN" sz="2800" b="1">
                <a:solidFill>
                  <a:srgbClr val="0F172A"/>
                </a:solidFill>
                <a:latin typeface="Arial"/>
              </a:rPr>
              <a:t>RAG</a:t>
            </a:r>
          </a:p>
          <a:p>
            <a:pPr algn="ctr"/>
            <a:r>
              <a:rPr lang="vi-VN" sz="2800" b="1">
                <a:solidFill>
                  <a:srgbClr val="0F172A"/>
                </a:solidFill>
                <a:latin typeface="Arial"/>
              </a:rPr>
              <a:t>MILVUS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Nội dung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06500" y="1625600"/>
            <a:ext cx="69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300" b="1">
                <a:solidFill>
                  <a:srgbClr val="00A6A6"/>
                </a:solidFill>
                <a:latin typeface="Arial"/>
              </a:rPr>
              <a:t>01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2133600" y="1600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 b="1">
                <a:solidFill>
                  <a:srgbClr val="0F172A"/>
                </a:solidFill>
                <a:latin typeface="Arial"/>
              </a:rPr>
              <a:t>Tổng quan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133600" y="1981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Bối cảnh, mục tiêu, phạm vi và công nghệ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206500" y="2514600"/>
            <a:ext cx="69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300" b="1">
                <a:solidFill>
                  <a:srgbClr val="00A6A6"/>
                </a:solidFill>
                <a:latin typeface="Arial"/>
              </a:rPr>
              <a:t>02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2133600" y="2489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 b="1">
                <a:solidFill>
                  <a:srgbClr val="0F172A"/>
                </a:solidFill>
                <a:latin typeface="Arial"/>
              </a:rPr>
              <a:t>Phân tích thiết kế hệ thống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2133600" y="2870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Tác nhân, use case, sequence, kiến trúc dữ liệu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206500" y="3403600"/>
            <a:ext cx="69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300" b="1">
                <a:solidFill>
                  <a:srgbClr val="00A6A6"/>
                </a:solidFill>
                <a:latin typeface="Arial"/>
              </a:rPr>
              <a:t>03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133600" y="3378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 b="1">
                <a:solidFill>
                  <a:srgbClr val="0F172A"/>
                </a:solidFill>
                <a:latin typeface="Arial"/>
              </a:rPr>
              <a:t>Triển khai hệ thống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2133600" y="3759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Backend, frontend, mobile, realtime, RAG và đánh giá AI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06500" y="4292600"/>
            <a:ext cx="69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300" b="1">
                <a:solidFill>
                  <a:srgbClr val="00A6A6"/>
                </a:solidFill>
                <a:latin typeface="Arial"/>
              </a:rPr>
              <a:t>04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133600" y="4267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 b="1">
                <a:solidFill>
                  <a:srgbClr val="0F172A"/>
                </a:solidFill>
                <a:latin typeface="Arial"/>
              </a:rPr>
              <a:t>Demo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2133600" y="4648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Kịch bản trình diễn chức năng chính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206500" y="5181600"/>
            <a:ext cx="698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300" b="1">
                <a:solidFill>
                  <a:srgbClr val="00A6A6"/>
                </a:solidFill>
                <a:latin typeface="Arial"/>
              </a:rPr>
              <a:t>05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133600" y="5156200"/>
            <a:ext cx="457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 b="1">
                <a:solidFill>
                  <a:srgbClr val="0F172A"/>
                </a:solidFill>
                <a:latin typeface="Arial"/>
              </a:rPr>
              <a:t>Kết luận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133600" y="5537200"/>
            <a:ext cx="787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Kết quả, hạn chế và hướng phát triển</a:t>
            </a:r>
          </a:p>
        </p:txBody>
      </p:sp>
      <p:sp>
        <p:nvSpPr>
          <p:cNvPr id="21" name="Shape 21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9800" y="12192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4800" b="1">
                <a:solidFill>
                  <a:srgbClr val="67E8F9"/>
                </a:solidFill>
                <a:latin typeface="Arial"/>
              </a:rPr>
              <a:t>1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39800" y="215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3800" b="1">
                <a:solidFill>
                  <a:srgbClr val="FFFFFF"/>
                </a:solidFill>
                <a:latin typeface="Arial"/>
              </a:rPr>
              <a:t>Tổng quan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65200" y="3200400"/>
            <a:ext cx="939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CBD5E1"/>
                </a:solidFill>
                <a:latin typeface="Arial"/>
              </a:rPr>
              <a:t>Bài toán CRM đa kênh cho doanh nghiệp nhỏ và vừa, có tích hợp chatbot AI dựa trên dữ liệu riêng của từng cửa hàng.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1.1. Lí do chọn đề tài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727200"/>
            <a:ext cx="48895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89000" y="1727200"/>
            <a:ext cx="101600" cy="3175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43000" y="1905000"/>
            <a:ext cx="448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Vấn đề thực tế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68400" y="2362200"/>
            <a:ext cx="44069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Khách hàng nhắn từ nhiều kênh: Facebook, Instagram, Telegram và widget website.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Doanh nghiệp nhỏ khó theo dõi hội thoại, phân công nhân viên và phản hồi kịp thời.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Thông tin sản phẩm thay đổi liên tục nên chatbot truyền thống dễ trả lời sai hoặc thiếu ngữ cảnh.</a:t>
            </a:r>
          </a:p>
        </p:txBody>
      </p:sp>
      <p:sp>
        <p:nvSpPr>
          <p:cNvPr id="10" name="Shape 10"/>
          <p:cNvSpPr/>
          <p:nvPr/>
        </p:nvSpPr>
        <p:spPr>
          <a:xfrm>
            <a:off x="6413500" y="1727200"/>
            <a:ext cx="48895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13500" y="1727200"/>
            <a:ext cx="101600" cy="317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667500" y="1905000"/>
            <a:ext cx="448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Hướng giải quyết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692900" y="2362200"/>
            <a:ext cx="44069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Xây dựng một inbox tập trung cho hội thoại đa kênh.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Tích hợp AI tự động trả lời dựa trên sản phẩm, chính sách và lịch sử hội thoại của từng doanh nghiệp.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Ứng dụng RAG để truy xuất dữ liệu có kiểm soát trước khi sinh câu trả lời.</a:t>
            </a:r>
          </a:p>
        </p:txBody>
      </p:sp>
      <p:sp>
        <p:nvSpPr>
          <p:cNvPr id="14" name="Shape 14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1.2. Mục tiêu đề tài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168400" y="1676400"/>
            <a:ext cx="9652000" cy="3302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Xây dựng hệ thống CRM ChatDesk phục vụ quản lý tin nhắn khách hàng tập trung.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Hỗ trợ 3 nhóm người dùng: quản trị viên hệ thống, chủ doanh nghiệp và nhân viên CSKH.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Kết nối nhiều kênh liên lạc: Facebook, Instagram, Telegram và widget nhúng website.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Cho phép quản lý sản phẩm, nhãn, mẫu trả lời nhanh, nhân viên, phân công và thống kê.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Triển khai chatbot AI tự động và trợ lý AI nội bộ dựa trên RAG với Milvus.</a:t>
            </a:r>
          </a:p>
        </p:txBody>
      </p:sp>
      <p:sp>
        <p:nvSpPr>
          <p:cNvPr id="7" name="Shape 7"/>
          <p:cNvSpPr/>
          <p:nvPr/>
        </p:nvSpPr>
        <p:spPr>
          <a:xfrm>
            <a:off x="1168400" y="5181600"/>
            <a:ext cx="203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295400" y="535940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295400" y="58801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Kênh giao tiếp</a:t>
            </a:r>
          </a:p>
        </p:txBody>
      </p:sp>
      <p:sp>
        <p:nvSpPr>
          <p:cNvPr id="10" name="Shape 10"/>
          <p:cNvSpPr/>
          <p:nvPr/>
        </p:nvSpPr>
        <p:spPr>
          <a:xfrm>
            <a:off x="3708400" y="5181600"/>
            <a:ext cx="203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835400" y="535940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F59E0B"/>
                </a:solidFill>
                <a:latin typeface="Arial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835400" y="58801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Vai trò người dùng</a:t>
            </a:r>
          </a:p>
        </p:txBody>
      </p:sp>
      <p:sp>
        <p:nvSpPr>
          <p:cNvPr id="13" name="Shape 13"/>
          <p:cNvSpPr/>
          <p:nvPr/>
        </p:nvSpPr>
        <p:spPr>
          <a:xfrm>
            <a:off x="6248400" y="5181600"/>
            <a:ext cx="203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375400" y="535940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6366F1"/>
                </a:solidFill>
                <a:latin typeface="Arial"/>
              </a:rPr>
              <a:t>2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375400" y="58801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Chế độ AI</a:t>
            </a:r>
          </a:p>
        </p:txBody>
      </p:sp>
      <p:sp>
        <p:nvSpPr>
          <p:cNvPr id="16" name="Shape 16"/>
          <p:cNvSpPr/>
          <p:nvPr/>
        </p:nvSpPr>
        <p:spPr>
          <a:xfrm>
            <a:off x="8788400" y="5181600"/>
            <a:ext cx="2032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915400" y="5359400"/>
            <a:ext cx="177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22C55E"/>
                </a:solidFill>
                <a:latin typeface="Arial"/>
              </a:rPr>
              <a:t>RAG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915400" y="58801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Truy xuất tri thức</a:t>
            </a:r>
          </a:p>
        </p:txBody>
      </p:sp>
      <p:sp>
        <p:nvSpPr>
          <p:cNvPr id="19" name="Shape 19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1.3. Các công nghệ sử dụng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35000" y="11684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300">
                <a:solidFill>
                  <a:srgbClr val="475569"/>
                </a:solidFill>
                <a:latin typeface="Arial"/>
              </a:rPr>
              <a:t>Hệ thống được triển khai theo mô hình client-server, tách biệt frontend, mobile, backend API và các dịch vụ dữ liệu/AI.</a:t>
            </a:r>
          </a:p>
        </p:txBody>
      </p:sp>
      <p:sp>
        <p:nvSpPr>
          <p:cNvPr id="7" name="Shape 7"/>
          <p:cNvSpPr/>
          <p:nvPr/>
        </p:nvSpPr>
        <p:spPr>
          <a:xfrm>
            <a:off x="939800" y="2413000"/>
            <a:ext cx="184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66800" y="2540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422400" y="2565400"/>
            <a:ext cx="123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Web/Mobile UI</a:t>
            </a:r>
          </a:p>
        </p:txBody>
      </p:sp>
      <p:sp>
        <p:nvSpPr>
          <p:cNvPr id="10" name="Shape 10"/>
          <p:cNvSpPr/>
          <p:nvPr/>
        </p:nvSpPr>
        <p:spPr>
          <a:xfrm>
            <a:off x="2832100" y="28702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3225800" y="2413000"/>
            <a:ext cx="184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352800" y="2540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708400" y="2565400"/>
            <a:ext cx="123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FastAPI Backend</a:t>
            </a:r>
          </a:p>
        </p:txBody>
      </p:sp>
      <p:sp>
        <p:nvSpPr>
          <p:cNvPr id="14" name="Shape 14"/>
          <p:cNvSpPr/>
          <p:nvPr/>
        </p:nvSpPr>
        <p:spPr>
          <a:xfrm>
            <a:off x="5118100" y="28702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5511800" y="2413000"/>
            <a:ext cx="184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638800" y="2540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994400" y="2565400"/>
            <a:ext cx="123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PostgreSQL</a:t>
            </a:r>
          </a:p>
        </p:txBody>
      </p:sp>
      <p:sp>
        <p:nvSpPr>
          <p:cNvPr id="18" name="Shape 18"/>
          <p:cNvSpPr/>
          <p:nvPr/>
        </p:nvSpPr>
        <p:spPr>
          <a:xfrm>
            <a:off x="7404100" y="28702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7797800" y="2413000"/>
            <a:ext cx="184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924800" y="2540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280400" y="2565400"/>
            <a:ext cx="123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Milvus Vector DB</a:t>
            </a:r>
          </a:p>
        </p:txBody>
      </p:sp>
      <p:sp>
        <p:nvSpPr>
          <p:cNvPr id="22" name="Shape 22"/>
          <p:cNvSpPr/>
          <p:nvPr/>
        </p:nvSpPr>
        <p:spPr>
          <a:xfrm>
            <a:off x="9690100" y="28702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10083800" y="2413000"/>
            <a:ext cx="18415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10210800" y="2540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566400" y="2565400"/>
            <a:ext cx="1231900" cy="711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LLM Provider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270000" y="4140200"/>
            <a:ext cx="9652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Frontend và mobile giao tiếp qua REST API, WebSocket và token JWT.</a:t>
            </a:r>
          </a:p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Backend chịu trách nhiệm nghiệp vụ, tích hợp kênh ngoài, realtime và AI.</a:t>
            </a:r>
          </a:p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PostgreSQL lưu dữ liệu quan hệ; Milvus lưu vector embedding phục vụ RAG.</a:t>
            </a:r>
          </a:p>
        </p:txBody>
      </p:sp>
      <p:sp>
        <p:nvSpPr>
          <p:cNvPr id="27" name="Shape 27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1.3. Các công nghệ sử dụng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36600" y="1587500"/>
            <a:ext cx="33020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736600" y="1587500"/>
            <a:ext cx="101600" cy="3683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90600" y="17653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Client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16000" y="2222500"/>
            <a:ext cx="2819400" cy="2946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React 18 + Vite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Ant Design 5, Zustand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React Native/Expo cho mobile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WebSocket realtime dashboard</a:t>
            </a:r>
          </a:p>
        </p:txBody>
      </p:sp>
      <p:sp>
        <p:nvSpPr>
          <p:cNvPr id="10" name="Shape 10"/>
          <p:cNvSpPr/>
          <p:nvPr/>
        </p:nvSpPr>
        <p:spPr>
          <a:xfrm>
            <a:off x="4445000" y="1587500"/>
            <a:ext cx="33020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445000" y="1587500"/>
            <a:ext cx="101600" cy="368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699000" y="17653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Server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24400" y="2222500"/>
            <a:ext cx="2819400" cy="2946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Python 3.11, FastAPI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SQLAlchemy 2.0, Alembic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JWT, passlib/bcrypt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Webhook Facebook/Instagram/Telegram/Widget</a:t>
            </a:r>
          </a:p>
        </p:txBody>
      </p:sp>
      <p:sp>
        <p:nvSpPr>
          <p:cNvPr id="14" name="Shape 14"/>
          <p:cNvSpPr/>
          <p:nvPr/>
        </p:nvSpPr>
        <p:spPr>
          <a:xfrm>
            <a:off x="8153400" y="1587500"/>
            <a:ext cx="3302000" cy="368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153400" y="1587500"/>
            <a:ext cx="101600" cy="36830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407400" y="17653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AI &amp; Data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32800" y="2222500"/>
            <a:ext cx="2819400" cy="2946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PostgreSQL lưu dữ liệu chính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Milvus Cloud/Zilliz lưu vector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all-MiniLM-L6-v2, vector 384 chiều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Groq/OpenAI/Gemini qua provider abstraction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9800" y="12192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4800" b="1">
                <a:solidFill>
                  <a:srgbClr val="67E8F9"/>
                </a:solidFill>
                <a:latin typeface="Arial"/>
              </a:rPr>
              <a:t>2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39800" y="215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3800" b="1">
                <a:solidFill>
                  <a:srgbClr val="FFFFFF"/>
                </a:solidFill>
                <a:latin typeface="Arial"/>
              </a:rPr>
              <a:t>Phân tích thiết kế hệ thống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65200" y="3200400"/>
            <a:ext cx="939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CBD5E1"/>
                </a:solidFill>
                <a:latin typeface="Arial"/>
              </a:rPr>
              <a:t>Xác định tác nhân, use case, luồng xử lý, kiến trúc dữ liệu và vị trí RAG trong hệ thống ChatDesk.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2.1. Phân rã chức năng của hệ thống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62000" y="1714500"/>
            <a:ext cx="3238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762000" y="1714500"/>
            <a:ext cx="101600" cy="33020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6000" y="1892300"/>
            <a:ext cx="2832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Admin hệ thống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41400" y="2349500"/>
            <a:ext cx="2755900" cy="2565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Theo dõi traffic toàn hệ thống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danh sách doanh nghiệp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Xem chi tiết hoạt động từng doanh nghiệp</a:t>
            </a:r>
          </a:p>
        </p:txBody>
      </p:sp>
      <p:sp>
        <p:nvSpPr>
          <p:cNvPr id="10" name="Shape 10"/>
          <p:cNvSpPr/>
          <p:nvPr/>
        </p:nvSpPr>
        <p:spPr>
          <a:xfrm>
            <a:off x="4470400" y="1714500"/>
            <a:ext cx="3238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470400" y="1714500"/>
            <a:ext cx="101600" cy="3302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724400" y="1892300"/>
            <a:ext cx="2832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Chủ doanh nghiệp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49800" y="2349500"/>
            <a:ext cx="2755900" cy="2565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kênh, widget, sản phẩm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nhân viên, nhãn, phân công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Theo dõi thống kê và cấu hình hồ sơ cửa hàng</a:t>
            </a:r>
          </a:p>
        </p:txBody>
      </p:sp>
      <p:sp>
        <p:nvSpPr>
          <p:cNvPr id="14" name="Shape 14"/>
          <p:cNvSpPr/>
          <p:nvPr/>
        </p:nvSpPr>
        <p:spPr>
          <a:xfrm>
            <a:off x="8178800" y="1714500"/>
            <a:ext cx="32385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178800" y="1714500"/>
            <a:ext cx="101600" cy="330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432800" y="1892300"/>
            <a:ext cx="2832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Nhân viên/Khách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58200" y="2349500"/>
            <a:ext cx="2755900" cy="2565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Nhân viên xử lý hội thoại được phân công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Dùng mẫu trả lời nhanh và trợ lý AI nội bộ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Khách hàng chat qua kênh ngoài hoặc widget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2.1. Phân rã chức năng - Admin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397000" y="1651000"/>
            <a:ext cx="9144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Đăng nhập hệ thống bằng tài khoản quản trị.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Xem dashboard tổng quan: doanh nghiệp, kênh, hội thoại, tin nhắn, tin nhắn AI.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Theo dõi traffic theo ngày và top doanh nghiệp có hoạt động nổi bật.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Tra cứu danh sách doanh nghiệp, chi tiết số liệu và trạng thái hoạt động.</a:t>
            </a:r>
          </a:p>
          <a:p>
            <a:pPr/>
            <a:r>
              <a:rPr lang="vi-VN" sz="2000">
                <a:solidFill>
                  <a:srgbClr val="0F172A"/>
                </a:solidFill>
                <a:latin typeface="Arial"/>
              </a:rPr>
              <a:t>• Giám sát chất lượng vận hành toàn hệ thống.</a:t>
            </a:r>
          </a:p>
        </p:txBody>
      </p:sp>
      <p:sp>
        <p:nvSpPr>
          <p:cNvPr id="7" name="Shape 7"/>
          <p:cNvSpPr/>
          <p:nvPr/>
        </p:nvSpPr>
        <p:spPr>
          <a:xfrm>
            <a:off x="889000" y="1498600"/>
            <a:ext cx="10414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8" name="Shape 8"/>
          <p:cNvSpPr/>
          <p:nvPr/>
        </p:nvSpPr>
        <p:spPr>
          <a:xfrm>
            <a:off x="11938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13208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00A6A6"/>
                </a:solidFill>
                <a:latin typeface="Arial"/>
              </a:rPr>
              <a:t>1.240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3208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Tin nhắn</a:t>
            </a:r>
          </a:p>
        </p:txBody>
      </p:sp>
      <p:sp>
        <p:nvSpPr>
          <p:cNvPr id="11" name="Shape 11"/>
          <p:cNvSpPr/>
          <p:nvPr/>
        </p:nvSpPr>
        <p:spPr>
          <a:xfrm>
            <a:off x="35052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6322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F59E0B"/>
                </a:solidFill>
                <a:latin typeface="Arial"/>
              </a:rPr>
              <a:t>37%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6322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AI hỗ trợ</a:t>
            </a:r>
          </a:p>
        </p:txBody>
      </p:sp>
      <p:sp>
        <p:nvSpPr>
          <p:cNvPr id="14" name="Shape 14"/>
          <p:cNvSpPr/>
          <p:nvPr/>
        </p:nvSpPr>
        <p:spPr>
          <a:xfrm>
            <a:off x="58166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9436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6366F1"/>
                </a:solidFill>
                <a:latin typeface="Arial"/>
              </a:rPr>
              <a:t>18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436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Doanh nghiệp</a:t>
            </a:r>
          </a:p>
        </p:txBody>
      </p:sp>
      <p:sp>
        <p:nvSpPr>
          <p:cNvPr id="17" name="Shape 17"/>
          <p:cNvSpPr/>
          <p:nvPr/>
        </p:nvSpPr>
        <p:spPr>
          <a:xfrm>
            <a:off x="81280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82550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22C55E"/>
                </a:solidFill>
                <a:latin typeface="Arial"/>
              </a:rPr>
              <a:t>94%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2550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Kênh hoạt động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93800" y="3556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400" b="1">
                <a:solidFill>
                  <a:srgbClr val="0F172A"/>
                </a:solidFill>
                <a:latin typeface="Arial"/>
              </a:rPr>
              <a:t>Biểu đồ hoạt động theo ngày</a:t>
            </a:r>
          </a:p>
        </p:txBody>
      </p:sp>
      <p:sp>
        <p:nvSpPr>
          <p:cNvPr id="21" name="Shape 21"/>
          <p:cNvSpPr/>
          <p:nvPr/>
        </p:nvSpPr>
        <p:spPr>
          <a:xfrm>
            <a:off x="1397000" y="4711700"/>
            <a:ext cx="355600" cy="4445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2057400" y="4495800"/>
            <a:ext cx="355600" cy="6604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2717800" y="4279900"/>
            <a:ext cx="355600" cy="8763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3378200" y="4064000"/>
            <a:ext cx="355600" cy="10922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038600" y="3848100"/>
            <a:ext cx="355600" cy="13081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4699000" y="3632200"/>
            <a:ext cx="355600" cy="1524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5359400" y="4559300"/>
            <a:ext cx="355600" cy="5969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6019800" y="4343400"/>
            <a:ext cx="355600" cy="812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6680200" y="4127500"/>
            <a:ext cx="355600" cy="10287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7340600" y="3911600"/>
            <a:ext cx="355600" cy="1244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8001000" y="3695700"/>
            <a:ext cx="355600" cy="14605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8661400" y="4622800"/>
            <a:ext cx="355600" cy="5334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2.1. Phân rã chức năng - Chủ doanh nghiệp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7145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89000" y="1714500"/>
            <a:ext cx="101600" cy="3175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43000" y="18923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Quản trị vận hành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68400" y="2349500"/>
            <a:ext cx="2692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Kết nối Facebook, Instagram, Telegram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Tạo widget nhúng website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nhân viên và cấu hình phân công</a:t>
            </a:r>
          </a:p>
        </p:txBody>
      </p:sp>
      <p:sp>
        <p:nvSpPr>
          <p:cNvPr id="10" name="Shape 10"/>
          <p:cNvSpPr/>
          <p:nvPr/>
        </p:nvSpPr>
        <p:spPr>
          <a:xfrm>
            <a:off x="4508500" y="17145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508500" y="1714500"/>
            <a:ext cx="101600" cy="31750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762500" y="18923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Quản lý tri thức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87900" y="2349500"/>
            <a:ext cx="2692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Thêm/sửa/xóa/import sản phẩm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Lưu SKU, danh mục, mô tả, giá, tồn kho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Tự động sinh embedding và upsert Milvus</a:t>
            </a:r>
          </a:p>
        </p:txBody>
      </p:sp>
      <p:sp>
        <p:nvSpPr>
          <p:cNvPr id="14" name="Shape 14"/>
          <p:cNvSpPr/>
          <p:nvPr/>
        </p:nvSpPr>
        <p:spPr>
          <a:xfrm>
            <a:off x="8128000" y="17145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128000" y="1714500"/>
            <a:ext cx="101600" cy="3175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382000" y="1892300"/>
            <a:ext cx="2768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Chăm sóc khách hàng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07400" y="2349500"/>
            <a:ext cx="2692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Theo dõi inbox đa kênh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Gắn nhãn, dùng saved replies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Bật/tắt AI tự động cho từng hội thoại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2.1. Phân rã chức năng - Nhân viên CSKH và khách hàng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39800" y="1676400"/>
            <a:ext cx="49276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939800" y="1676400"/>
            <a:ext cx="101600" cy="355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93800" y="1854200"/>
            <a:ext cx="452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Nhân viên CSKH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219200" y="2311400"/>
            <a:ext cx="4445000" cy="281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Chỉ thấy hội thoại được phân công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Trả lời khách qua dashboard hoặc mobile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Dùng trợ lý AI nội bộ để hỏi dữ liệu sản phẩm/cách xử lý hội thoại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thông tin cá nhân</a:t>
            </a:r>
          </a:p>
        </p:txBody>
      </p:sp>
      <p:sp>
        <p:nvSpPr>
          <p:cNvPr id="10" name="Shape 10"/>
          <p:cNvSpPr/>
          <p:nvPr/>
        </p:nvSpPr>
        <p:spPr>
          <a:xfrm>
            <a:off x="6350000" y="1676400"/>
            <a:ext cx="49276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350000" y="1676400"/>
            <a:ext cx="101600" cy="3556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604000" y="1854200"/>
            <a:ext cx="45212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Khách hàng cuối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629400" y="2311400"/>
            <a:ext cx="4445000" cy="281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Nhắn tin qua Facebook/Instagram/Telegram/Widget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Nhận phản hồi realtime từ nhân viên hoặc AI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Có thể được AI tư vấn giá, tồn kho, chính sách và gợi ý đặt hàng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Thông tin visitor được lưu vào contact/conversation</a:t>
            </a:r>
          </a:p>
        </p:txBody>
      </p:sp>
      <p:sp>
        <p:nvSpPr>
          <p:cNvPr id="14" name="Shape 14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2.2. Biểu đồ Usecase tổng quát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041400" y="1549400"/>
            <a:ext cx="4572000" cy="408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1041400" y="1549400"/>
            <a:ext cx="101600" cy="40894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295400" y="1727200"/>
            <a:ext cx="416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Use case chính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320800" y="2184400"/>
            <a:ext cx="4089400" cy="335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Xác thực và phân quyền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kênh kết nối và widget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hội thoại, tin nhắn, nhãn, saved replies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Quản lý sản phẩm và tri thức AI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AI tự động trả lời và trợ lý AI nội bộ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Thống kê, cài đặt, quản trị hệ thống</a:t>
            </a:r>
          </a:p>
        </p:txBody>
      </p:sp>
      <p:sp>
        <p:nvSpPr>
          <p:cNvPr id="10" name="Shape 10"/>
          <p:cNvSpPr/>
          <p:nvPr/>
        </p:nvSpPr>
        <p:spPr>
          <a:xfrm>
            <a:off x="6477000" y="1549400"/>
            <a:ext cx="41910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6477000" y="1549400"/>
            <a:ext cx="101600" cy="22606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731000" y="1727200"/>
            <a:ext cx="378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Tác nhân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756400" y="2184400"/>
            <a:ext cx="3708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Admin hệ thống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Chủ doanh nghiệp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Nhân viên CSKH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Khách hàng cuối</a:t>
            </a:r>
          </a:p>
        </p:txBody>
      </p:sp>
      <p:sp>
        <p:nvSpPr>
          <p:cNvPr id="14" name="Shape 14"/>
          <p:cNvSpPr/>
          <p:nvPr/>
        </p:nvSpPr>
        <p:spPr>
          <a:xfrm>
            <a:off x="6477000" y="4089400"/>
            <a:ext cx="41910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477000" y="4089400"/>
            <a:ext cx="101600" cy="15494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731000" y="4267200"/>
            <a:ext cx="3784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Nguồn sơ đồ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756400" y="47244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Document/diagram/uc/00_uc_tong_quat.svg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Các use case phân rã 01-10 đã được dựng bằng PlantUML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Slide này tóm tắt nội dung để trình chiếu gọn hơn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2.3. Biểu đồ tuần tự - Xử lý tin nhắn đa kênh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39800" y="1905000"/>
            <a:ext cx="1841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66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422400" y="20574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Khách gửi tin</a:t>
            </a:r>
          </a:p>
        </p:txBody>
      </p:sp>
      <p:sp>
        <p:nvSpPr>
          <p:cNvPr id="9" name="Shape 9"/>
          <p:cNvSpPr/>
          <p:nvPr/>
        </p:nvSpPr>
        <p:spPr>
          <a:xfrm>
            <a:off x="2832100" y="24003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3225800" y="1905000"/>
            <a:ext cx="1841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352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708400" y="20574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Webhook/Widget API</a:t>
            </a:r>
          </a:p>
        </p:txBody>
      </p:sp>
      <p:sp>
        <p:nvSpPr>
          <p:cNvPr id="13" name="Shape 13"/>
          <p:cNvSpPr/>
          <p:nvPr/>
        </p:nvSpPr>
        <p:spPr>
          <a:xfrm>
            <a:off x="5118100" y="24003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511800" y="1905000"/>
            <a:ext cx="1841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638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94400" y="20574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Lưu DB</a:t>
            </a:r>
          </a:p>
        </p:txBody>
      </p:sp>
      <p:sp>
        <p:nvSpPr>
          <p:cNvPr id="17" name="Shape 17"/>
          <p:cNvSpPr/>
          <p:nvPr/>
        </p:nvSpPr>
        <p:spPr>
          <a:xfrm>
            <a:off x="7404100" y="24003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7797800" y="1905000"/>
            <a:ext cx="1841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924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80400" y="20574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Đẩy WebSocket</a:t>
            </a:r>
          </a:p>
        </p:txBody>
      </p:sp>
      <p:sp>
        <p:nvSpPr>
          <p:cNvPr id="21" name="Shape 21"/>
          <p:cNvSpPr/>
          <p:nvPr/>
        </p:nvSpPr>
        <p:spPr>
          <a:xfrm>
            <a:off x="9690100" y="2400300"/>
            <a:ext cx="3175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0083800" y="1905000"/>
            <a:ext cx="18415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2108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566400" y="20574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AI trả lời nếu bật</a:t>
            </a:r>
          </a:p>
        </p:txBody>
      </p:sp>
      <p:sp>
        <p:nvSpPr>
          <p:cNvPr id="25" name="Shape 25"/>
          <p:cNvSpPr/>
          <p:nvPr/>
        </p:nvSpPr>
        <p:spPr>
          <a:xfrm>
            <a:off x="1841500" y="3683000"/>
            <a:ext cx="8509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1841500" y="3683000"/>
            <a:ext cx="101600" cy="1778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2095500" y="3860800"/>
            <a:ext cx="810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Ý nghĩa luồng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120900" y="4318000"/>
            <a:ext cx="8026400" cy="1041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Tin nhắn từ nền tảng ngoài được chuẩn hóa thành contact, conversation và message.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Dashboard nhận realtime event để cập nhật inbox ngay khi có tin mới.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Nếu conversation bật AI, backend sinh phản hồi và gửi ngược ra đúng kênh.</a:t>
            </a:r>
          </a:p>
        </p:txBody>
      </p:sp>
      <p:sp>
        <p:nvSpPr>
          <p:cNvPr id="29" name="Shape 29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2.3. Biểu đồ tuần tự - Xây dựng cơ sở tri thức sản phẩm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14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41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397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Nhập/import sản phẩm</a:t>
            </a:r>
          </a:p>
        </p:txBody>
      </p:sp>
      <p:sp>
        <p:nvSpPr>
          <p:cNvPr id="9" name="Shape 9"/>
          <p:cNvSpPr/>
          <p:nvPr/>
        </p:nvSpPr>
        <p:spPr>
          <a:xfrm>
            <a:off x="2870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3200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327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683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Lưu PostgreSQL</a:t>
            </a:r>
          </a:p>
        </p:txBody>
      </p:sp>
      <p:sp>
        <p:nvSpPr>
          <p:cNvPr id="13" name="Shape 13"/>
          <p:cNvSpPr/>
          <p:nvPr/>
        </p:nvSpPr>
        <p:spPr>
          <a:xfrm>
            <a:off x="5156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486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613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69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Build text</a:t>
            </a:r>
          </a:p>
        </p:txBody>
      </p:sp>
      <p:sp>
        <p:nvSpPr>
          <p:cNvPr id="17" name="Shape 17"/>
          <p:cNvSpPr/>
          <p:nvPr/>
        </p:nvSpPr>
        <p:spPr>
          <a:xfrm>
            <a:off x="7442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7772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899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55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Sinh embedding</a:t>
            </a:r>
          </a:p>
        </p:txBody>
      </p:sp>
      <p:sp>
        <p:nvSpPr>
          <p:cNvPr id="21" name="Shape 21"/>
          <p:cNvSpPr/>
          <p:nvPr/>
        </p:nvSpPr>
        <p:spPr>
          <a:xfrm>
            <a:off x="9728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0058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185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541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Upsert Milvus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320800" y="3835400"/>
            <a:ext cx="9652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Text embedding được ghép từ tên, SKU, danh mục, mô tả, giá, trạng thái, tồn kho và extra_info.</a:t>
            </a:r>
          </a:p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Mỗi vector gắn product_id và business_id để tìm kiếm đúng phạm vi doanh nghiệp.</a:t>
            </a:r>
          </a:p>
          <a:p>
            <a:pPr/>
            <a:r>
              <a:rPr lang="vi-VN" sz="1600">
                <a:solidFill>
                  <a:srgbClr val="334155"/>
                </a:solidFill>
                <a:latin typeface="Arial"/>
              </a:rPr>
              <a:t>• Khi cập nhật sản phẩm, hệ thống sinh lại embedding; khi xóa sản phẩm, xóa vector tương ứng.</a:t>
            </a:r>
          </a:p>
        </p:txBody>
      </p:sp>
      <p:sp>
        <p:nvSpPr>
          <p:cNvPr id="26" name="Shape 26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2.3. RAG Pipeline trong ChatDesk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14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41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397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Product text</a:t>
            </a:r>
          </a:p>
        </p:txBody>
      </p:sp>
      <p:sp>
        <p:nvSpPr>
          <p:cNvPr id="9" name="Shape 9"/>
          <p:cNvSpPr/>
          <p:nvPr/>
        </p:nvSpPr>
        <p:spPr>
          <a:xfrm>
            <a:off x="2870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3200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327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683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Embedding 384d</a:t>
            </a:r>
          </a:p>
        </p:txBody>
      </p:sp>
      <p:sp>
        <p:nvSpPr>
          <p:cNvPr id="13" name="Shape 13"/>
          <p:cNvSpPr/>
          <p:nvPr/>
        </p:nvSpPr>
        <p:spPr>
          <a:xfrm>
            <a:off x="5156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486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613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69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Milvus search</a:t>
            </a:r>
          </a:p>
        </p:txBody>
      </p:sp>
      <p:sp>
        <p:nvSpPr>
          <p:cNvPr id="17" name="Shape 17"/>
          <p:cNvSpPr/>
          <p:nvPr/>
        </p:nvSpPr>
        <p:spPr>
          <a:xfrm>
            <a:off x="7442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7772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899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55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Product context</a:t>
            </a:r>
          </a:p>
        </p:txBody>
      </p:sp>
      <p:sp>
        <p:nvSpPr>
          <p:cNvPr id="21" name="Shape 21"/>
          <p:cNvSpPr/>
          <p:nvPr/>
        </p:nvSpPr>
        <p:spPr>
          <a:xfrm>
            <a:off x="9728200" y="24003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0058400" y="19050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185400" y="20320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541000" y="20574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LLM answer</a:t>
            </a:r>
          </a:p>
        </p:txBody>
      </p:sp>
      <p:sp>
        <p:nvSpPr>
          <p:cNvPr id="25" name="Shape 25"/>
          <p:cNvSpPr/>
          <p:nvPr/>
        </p:nvSpPr>
        <p:spPr>
          <a:xfrm>
            <a:off x="1320800" y="3530600"/>
            <a:ext cx="9652000" cy="2082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1320800" y="3530600"/>
            <a:ext cx="101600" cy="20828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574800" y="3708400"/>
            <a:ext cx="924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Cách RAG được triển khai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600200" y="4165600"/>
            <a:ext cx="9169400" cy="1346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Milvus collection product_embeddings dùng COSINE similarity và AUTOINDEX.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Query của khách được embedding bằng all-MiniLM-L6-v2 rồi search top-k theo business_id.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Backend fetch chi tiết sản phẩm từ PostgreSQL, format thành context và đưa vào prompt.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Prompt yêu cầu AI không bịa tên sản phẩm, biến thể, giá, tồn kho hoặc chính sách ngoài dữ liệu.</a:t>
            </a:r>
          </a:p>
        </p:txBody>
      </p:sp>
      <p:sp>
        <p:nvSpPr>
          <p:cNvPr id="29" name="Shape 29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2.3. Luồng AI tự động trả lời có selective rewrite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14400" y="18288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41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397000" y="19812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Tin nhắn mới</a:t>
            </a:r>
          </a:p>
        </p:txBody>
      </p:sp>
      <p:sp>
        <p:nvSpPr>
          <p:cNvPr id="9" name="Shape 9"/>
          <p:cNvSpPr/>
          <p:nvPr/>
        </p:nvSpPr>
        <p:spPr>
          <a:xfrm>
            <a:off x="2870200" y="23241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3200400" y="18288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327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683000" y="19812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Search hiện tại</a:t>
            </a:r>
          </a:p>
        </p:txBody>
      </p:sp>
      <p:sp>
        <p:nvSpPr>
          <p:cNvPr id="13" name="Shape 13"/>
          <p:cNvSpPr/>
          <p:nvPr/>
        </p:nvSpPr>
        <p:spPr>
          <a:xfrm>
            <a:off x="5156200" y="23241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5486400" y="18288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613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5969000" y="19812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Chấm confidence</a:t>
            </a:r>
          </a:p>
        </p:txBody>
      </p:sp>
      <p:sp>
        <p:nvSpPr>
          <p:cNvPr id="17" name="Shape 17"/>
          <p:cNvSpPr/>
          <p:nvPr/>
        </p:nvSpPr>
        <p:spPr>
          <a:xfrm>
            <a:off x="7442200" y="23241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7772400" y="18288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7899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55000" y="19812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Rewrite nếu cần</a:t>
            </a:r>
          </a:p>
        </p:txBody>
      </p:sp>
      <p:sp>
        <p:nvSpPr>
          <p:cNvPr id="21" name="Shape 21"/>
          <p:cNvSpPr/>
          <p:nvPr/>
        </p:nvSpPr>
        <p:spPr>
          <a:xfrm>
            <a:off x="9728200" y="23241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10058400" y="1828800"/>
            <a:ext cx="1905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10185400" y="19558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0541000" y="1981200"/>
            <a:ext cx="12954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Prompt + LLM</a:t>
            </a:r>
          </a:p>
        </p:txBody>
      </p:sp>
      <p:sp>
        <p:nvSpPr>
          <p:cNvPr id="25" name="Shape 25"/>
          <p:cNvSpPr/>
          <p:nvPr/>
        </p:nvSpPr>
        <p:spPr>
          <a:xfrm>
            <a:off x="1320800" y="3530600"/>
            <a:ext cx="9652000" cy="20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6" name="Shape 26"/>
          <p:cNvSpPr/>
          <p:nvPr/>
        </p:nvSpPr>
        <p:spPr>
          <a:xfrm>
            <a:off x="1320800" y="3530600"/>
            <a:ext cx="101600" cy="203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1574800" y="3708400"/>
            <a:ext cx="924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Điểm nhấn đã triển khai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600200" y="4165600"/>
            <a:ext cx="9169400" cy="1295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Nếu kết quả Milvus của tin nhắn hiện tại đủ tin cậy, hệ thống dùng ngay để giảm latency.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Nếu câu hỏi ngắn/mơ hồ như 'giá sao?', backend dùng lịch sử chat để rewrite thành truy vấn độc lập.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Rewrite chỉ được dùng khi confidence đạt ngưỡng; sản phẩm đưa vào prompt phải vượt AI_RETRIEVAL_MIN_SCORE.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Khi search lỗi hoặc không có context phù hợp, AI được yêu cầu nói rõ không tìm thấy dữ liệu, không bịa sản phẩm.</a:t>
            </a:r>
          </a:p>
        </p:txBody>
      </p:sp>
      <p:sp>
        <p:nvSpPr>
          <p:cNvPr id="29" name="Shape 29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2.4. Sơ đồ kết nối các bảng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62000" y="1676400"/>
            <a:ext cx="36195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762000" y="1676400"/>
            <a:ext cx="101600" cy="36322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6000" y="1854200"/>
            <a:ext cx="321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PostgreSQL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41400" y="2311400"/>
            <a:ext cx="31369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users, employees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channels, widgets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contacts, conversations, messages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products, labels, saved replies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assignments, analytics, ai_assistant_messages</a:t>
            </a:r>
          </a:p>
        </p:txBody>
      </p:sp>
      <p:sp>
        <p:nvSpPr>
          <p:cNvPr id="10" name="Shape 10"/>
          <p:cNvSpPr/>
          <p:nvPr/>
        </p:nvSpPr>
        <p:spPr>
          <a:xfrm>
            <a:off x="4724400" y="1676400"/>
            <a:ext cx="36195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724400" y="1676400"/>
            <a:ext cx="101600" cy="36322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978400" y="1854200"/>
            <a:ext cx="321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Milvus: product_embeddings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003800" y="2311400"/>
            <a:ext cx="31369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id = products.id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business_id để filter theo tenant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embedding FLOAT_VECTOR(384)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COSINE similarity + AUTOINDEX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search trả id + score theo ranking</a:t>
            </a:r>
          </a:p>
        </p:txBody>
      </p:sp>
      <p:sp>
        <p:nvSpPr>
          <p:cNvPr id="14" name="Shape 14"/>
          <p:cNvSpPr/>
          <p:nvPr/>
        </p:nvSpPr>
        <p:spPr>
          <a:xfrm>
            <a:off x="8686800" y="1676400"/>
            <a:ext cx="2794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686800" y="1676400"/>
            <a:ext cx="101600" cy="36322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940800" y="1854200"/>
            <a:ext cx="2387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Quan hệ dữ liệu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66200" y="2311400"/>
            <a:ext cx="2311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Conversation thuộc business, channel và contact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Message thuộc conversation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Product thuộc business và đồng bộ vector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AI message lưu lại để thống kê và audit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9800" y="12192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4800" b="1">
                <a:solidFill>
                  <a:srgbClr val="67E8F9"/>
                </a:solidFill>
                <a:latin typeface="Arial"/>
              </a:rPr>
              <a:t>3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39800" y="215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3800" b="1">
                <a:solidFill>
                  <a:srgbClr val="FFFFFF"/>
                </a:solidFill>
                <a:latin typeface="Arial"/>
              </a:rPr>
              <a:t>Triển khai hệ thống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65200" y="3200400"/>
            <a:ext cx="939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CBD5E1"/>
                </a:solidFill>
                <a:latin typeface="Arial"/>
              </a:rPr>
              <a:t>Tổ chức backend, frontend, mobile, tích hợp kênh, realtime, RAG và kiểm thử đánh giá 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3.1.1. Cài đặt môi trường và khởi tạo dự án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19200" y="1651000"/>
            <a:ext cx="9652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Khởi tạo backend FastAPI, cấu hình SQLAlchemy async và Alembic migration.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Cấu hình PostgreSQL/Railway cho dữ liệu quan hệ.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Cấu hình Milvus Cloud/Zilliz cho collection product_embeddings.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Khởi tạo web React + Vite và mobile React Native/Expo.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Thiết lập biến môi trường cho API URL, WebSocket URL, JWT, LLM provider và webhook.</a:t>
            </a:r>
          </a:p>
        </p:txBody>
      </p:sp>
      <p:sp>
        <p:nvSpPr>
          <p:cNvPr id="7" name="Shape 7"/>
          <p:cNvSpPr/>
          <p:nvPr/>
        </p:nvSpPr>
        <p:spPr>
          <a:xfrm>
            <a:off x="1524000" y="5143500"/>
            <a:ext cx="13970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600200" y="52197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FastAPI</a:t>
            </a:r>
          </a:p>
        </p:txBody>
      </p:sp>
      <p:sp>
        <p:nvSpPr>
          <p:cNvPr id="9" name="Shape 9"/>
          <p:cNvSpPr/>
          <p:nvPr/>
        </p:nvSpPr>
        <p:spPr>
          <a:xfrm>
            <a:off x="3048000" y="5143500"/>
            <a:ext cx="1397000" cy="38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AE6FD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124200" y="52197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166534"/>
                </a:solidFill>
                <a:latin typeface="Arial"/>
              </a:rPr>
              <a:t>PostgreSQL</a:t>
            </a:r>
          </a:p>
        </p:txBody>
      </p:sp>
      <p:sp>
        <p:nvSpPr>
          <p:cNvPr id="11" name="Shape 11"/>
          <p:cNvSpPr/>
          <p:nvPr/>
        </p:nvSpPr>
        <p:spPr>
          <a:xfrm>
            <a:off x="4851400" y="5143500"/>
            <a:ext cx="1397000" cy="38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AE6F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927600" y="52197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B45309"/>
                </a:solidFill>
                <a:latin typeface="Arial"/>
              </a:rPr>
              <a:t>Milvus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0" y="5143500"/>
            <a:ext cx="1397000" cy="38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AE6FD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477000" y="52197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1D4ED8"/>
                </a:solidFill>
                <a:latin typeface="Arial"/>
              </a:rPr>
              <a:t>React/Vite</a:t>
            </a:r>
          </a:p>
        </p:txBody>
      </p:sp>
      <p:sp>
        <p:nvSpPr>
          <p:cNvPr id="15" name="Shape 15"/>
          <p:cNvSpPr/>
          <p:nvPr/>
        </p:nvSpPr>
        <p:spPr>
          <a:xfrm>
            <a:off x="8204200" y="5143500"/>
            <a:ext cx="1397000" cy="381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BAE6FD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280400" y="5219700"/>
            <a:ext cx="1244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6D28D9"/>
                </a:solidFill>
                <a:latin typeface="Arial"/>
              </a:rPr>
              <a:t>Expo</a:t>
            </a:r>
          </a:p>
        </p:txBody>
      </p:sp>
      <p:sp>
        <p:nvSpPr>
          <p:cNvPr id="17" name="Shape 17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3.1.2. Xây dựng Backend API cho hệ thống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6510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89000" y="1651000"/>
            <a:ext cx="101600" cy="3556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43000" y="18288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API Layer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68400" y="2286000"/>
            <a:ext cx="2819400" cy="281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auth, users, employees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conversations, messages, contacts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channels, widgets, products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analytics, assignments, AI assistant</a:t>
            </a:r>
          </a:p>
        </p:txBody>
      </p:sp>
      <p:sp>
        <p:nvSpPr>
          <p:cNvPr id="10" name="Shape 10"/>
          <p:cNvSpPr/>
          <p:nvPr/>
        </p:nvSpPr>
        <p:spPr>
          <a:xfrm>
            <a:off x="4445000" y="16510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445000" y="1651000"/>
            <a:ext cx="101600" cy="355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699000" y="18288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Service Layer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24400" y="2286000"/>
            <a:ext cx="2819400" cy="281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OAuth/Meta/Telegram/Widget service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AI service và AI assistant service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Embedding service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Milvus service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Order readiness và scope classification</a:t>
            </a:r>
          </a:p>
        </p:txBody>
      </p:sp>
      <p:sp>
        <p:nvSpPr>
          <p:cNvPr id="14" name="Shape 14"/>
          <p:cNvSpPr/>
          <p:nvPr/>
        </p:nvSpPr>
        <p:spPr>
          <a:xfrm>
            <a:off x="8001000" y="1651000"/>
            <a:ext cx="3302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001000" y="1651000"/>
            <a:ext cx="101600" cy="355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255000" y="18288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Data Layer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80400" y="2286000"/>
            <a:ext cx="2819400" cy="2819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SQLAlchemy models/schemas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PostgreSQL transaction flow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Milvus collection management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File uploads và message attachments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WebSocket connection manager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3.1.2. Triển khai RAG trên Backend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62000" y="1676400"/>
            <a:ext cx="36195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762000" y="1676400"/>
            <a:ext cx="101600" cy="36322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016000" y="1854200"/>
            <a:ext cx="321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Ingestion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41400" y="2311400"/>
            <a:ext cx="31369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POST /api/products tạo sản phẩm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PUT /api/products/{id} cập nhật và sinh lại vector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DELETE xóa sản phẩm và embedding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POST /api/products/import import tối đa 50 sản phẩm/lần</a:t>
            </a:r>
          </a:p>
        </p:txBody>
      </p:sp>
      <p:sp>
        <p:nvSpPr>
          <p:cNvPr id="10" name="Shape 10"/>
          <p:cNvSpPr/>
          <p:nvPr/>
        </p:nvSpPr>
        <p:spPr>
          <a:xfrm>
            <a:off x="4724400" y="1676400"/>
            <a:ext cx="36195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724400" y="1676400"/>
            <a:ext cx="101600" cy="36322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978400" y="1854200"/>
            <a:ext cx="3213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Retrieval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003800" y="2311400"/>
            <a:ext cx="31369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Sinh embedding từ câu hỏi khách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Search Milvus với filter business_id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Trả top-k product id + cosine score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Fetch product row từ PostgreSQL theo ranking Milvus</a:t>
            </a:r>
          </a:p>
        </p:txBody>
      </p:sp>
      <p:sp>
        <p:nvSpPr>
          <p:cNvPr id="14" name="Shape 14"/>
          <p:cNvSpPr/>
          <p:nvPr/>
        </p:nvSpPr>
        <p:spPr>
          <a:xfrm>
            <a:off x="8686800" y="1676400"/>
            <a:ext cx="2794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686800" y="1676400"/>
            <a:ext cx="101600" cy="3632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940800" y="1854200"/>
            <a:ext cx="2387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Generation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66200" y="2311400"/>
            <a:ext cx="2311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Prompt gồm business context, product context và lịch sử chat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Rule chống bịa giá/tồn kho/chính sách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Nếu context rỗng thì trả lời không tìm thấy dữ liệu phù hợp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LLM provider có thể Groq/OpenAI/Gemini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3.1.3. Xây dựng Web và Mobile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19200" y="1625600"/>
            <a:ext cx="9652000" cy="3175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Web dashboard React/Vite chia route theo role: admin, business, employee.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Mobile app React Native/Expo phục vụ nhân viên/chủ doanh nghiệp theo dõi inbox và thao tác nhanh.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Client tự gắn JWT, ngôn ngữ hiển thị và xử lý logout khi API trả 401.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State hội thoại được cache để chuyển conversation nhanh và load thêm tin nhắn cũ bằng cursor.</a:t>
            </a:r>
          </a:p>
          <a:p>
            <a:pPr/>
            <a:r>
              <a:rPr lang="vi-VN" sz="1900">
                <a:solidFill>
                  <a:srgbClr val="0F172A"/>
                </a:solidFill>
                <a:latin typeface="Arial"/>
              </a:rPr>
              <a:t>• UI hỗ trợ theme sáng/tối, đa ngôn ngữ Việt/Anh và AI assistant nội bộ.</a:t>
            </a:r>
          </a:p>
        </p:txBody>
      </p:sp>
      <p:sp>
        <p:nvSpPr>
          <p:cNvPr id="7" name="Shape 7"/>
          <p:cNvSpPr/>
          <p:nvPr/>
        </p:nvSpPr>
        <p:spPr>
          <a:xfrm>
            <a:off x="1524000" y="50165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651000" y="5143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1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2006600" y="5168900"/>
            <a:ext cx="104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Route theo role</a:t>
            </a:r>
          </a:p>
        </p:txBody>
      </p:sp>
      <p:sp>
        <p:nvSpPr>
          <p:cNvPr id="10" name="Shape 10"/>
          <p:cNvSpPr/>
          <p:nvPr/>
        </p:nvSpPr>
        <p:spPr>
          <a:xfrm>
            <a:off x="3225800" y="53848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3556000" y="50165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683000" y="5143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2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038600" y="5168900"/>
            <a:ext cx="104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API client</a:t>
            </a:r>
          </a:p>
        </p:txBody>
      </p:sp>
      <p:sp>
        <p:nvSpPr>
          <p:cNvPr id="14" name="Shape 14"/>
          <p:cNvSpPr/>
          <p:nvPr/>
        </p:nvSpPr>
        <p:spPr>
          <a:xfrm>
            <a:off x="5257800" y="53848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5" name="Shape 15"/>
          <p:cNvSpPr/>
          <p:nvPr/>
        </p:nvSpPr>
        <p:spPr>
          <a:xfrm>
            <a:off x="5588000" y="50165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715000" y="5143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3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070600" y="5168900"/>
            <a:ext cx="104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Store</a:t>
            </a:r>
          </a:p>
        </p:txBody>
      </p:sp>
      <p:sp>
        <p:nvSpPr>
          <p:cNvPr id="18" name="Shape 18"/>
          <p:cNvSpPr/>
          <p:nvPr/>
        </p:nvSpPr>
        <p:spPr>
          <a:xfrm>
            <a:off x="7289800" y="53848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7620000" y="50165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747000" y="5143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02600" y="5168900"/>
            <a:ext cx="104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Component</a:t>
            </a:r>
          </a:p>
        </p:txBody>
      </p:sp>
      <p:sp>
        <p:nvSpPr>
          <p:cNvPr id="22" name="Shape 22"/>
          <p:cNvSpPr/>
          <p:nvPr/>
        </p:nvSpPr>
        <p:spPr>
          <a:xfrm>
            <a:off x="9321800" y="5384800"/>
            <a:ext cx="25400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9652000" y="5016500"/>
            <a:ext cx="165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9779000" y="5143500"/>
            <a:ext cx="33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 b="1">
                <a:solidFill>
                  <a:srgbClr val="00A6A6"/>
                </a:solidFill>
                <a:latin typeface="Arial"/>
              </a:rPr>
              <a:t>5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134600" y="5168900"/>
            <a:ext cx="10414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0F172A"/>
                </a:solidFill>
                <a:latin typeface="Arial"/>
              </a:rPr>
              <a:t>Realtime update</a:t>
            </a:r>
          </a:p>
        </p:txBody>
      </p:sp>
      <p:sp>
        <p:nvSpPr>
          <p:cNvPr id="26" name="Shape 26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3.1.4. Realtime và tích hợp kênh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676400"/>
            <a:ext cx="3302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889000" y="1676400"/>
            <a:ext cx="101600" cy="36322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1430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Realtime WebSocket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68400" y="2311400"/>
            <a:ext cx="2819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/ws/me?token=... cho dashboard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/ws/widget/{widget_id} cho khách website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Event: new_message, ai_typing, label update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Cập nhật inbox không cần refresh</a:t>
            </a:r>
          </a:p>
        </p:txBody>
      </p:sp>
      <p:sp>
        <p:nvSpPr>
          <p:cNvPr id="10" name="Shape 10"/>
          <p:cNvSpPr/>
          <p:nvPr/>
        </p:nvSpPr>
        <p:spPr>
          <a:xfrm>
            <a:off x="4445000" y="1676400"/>
            <a:ext cx="3302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445000" y="1676400"/>
            <a:ext cx="101600" cy="3632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6990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Kênh ngoài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24400" y="2311400"/>
            <a:ext cx="2819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Meta OAuth để kết nối Facebook/Instagram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Telegram bot token và webhook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Widget public có allowed origins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Gửi/nhận attachment và message platform id</a:t>
            </a:r>
          </a:p>
        </p:txBody>
      </p:sp>
      <p:sp>
        <p:nvSpPr>
          <p:cNvPr id="14" name="Shape 14"/>
          <p:cNvSpPr/>
          <p:nvPr/>
        </p:nvSpPr>
        <p:spPr>
          <a:xfrm>
            <a:off x="8001000" y="1676400"/>
            <a:ext cx="33020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001000" y="1676400"/>
            <a:ext cx="101600" cy="36322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2550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AI trong luồng chat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280400" y="2311400"/>
            <a:ext cx="2819400" cy="289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Công tắc AI theo từng conversation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Typing state khi AI đang sinh phản hồi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Tin nhắn AI lưu sender_type = ai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Thống kê tỷ lệ đóng góp của AI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3.2. Một số giao diện - Inbox ChatDesk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939800" y="1498600"/>
            <a:ext cx="10312400" cy="431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hape 7"/>
          <p:cNvSpPr/>
          <p:nvPr/>
        </p:nvSpPr>
        <p:spPr>
          <a:xfrm>
            <a:off x="939800" y="1498600"/>
            <a:ext cx="2921000" cy="4318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193800" y="1752600"/>
            <a:ext cx="215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500" b="1">
                <a:solidFill>
                  <a:srgbClr val="0F172A"/>
                </a:solidFill>
                <a:latin typeface="Arial"/>
              </a:rPr>
              <a:t>Inbox đa kênh</a:t>
            </a:r>
          </a:p>
        </p:txBody>
      </p:sp>
      <p:sp>
        <p:nvSpPr>
          <p:cNvPr id="9" name="Shape 9"/>
          <p:cNvSpPr/>
          <p:nvPr/>
        </p:nvSpPr>
        <p:spPr>
          <a:xfrm>
            <a:off x="1193800" y="2209800"/>
            <a:ext cx="939800" cy="38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AE6FD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1270000" y="2286000"/>
            <a:ext cx="7874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1D4ED8"/>
                </a:solidFill>
                <a:latin typeface="Arial"/>
              </a:rPr>
              <a:t>Facebook</a:t>
            </a:r>
          </a:p>
        </p:txBody>
      </p:sp>
      <p:sp>
        <p:nvSpPr>
          <p:cNvPr id="11" name="Shape 11"/>
          <p:cNvSpPr/>
          <p:nvPr/>
        </p:nvSpPr>
        <p:spPr>
          <a:xfrm>
            <a:off x="2235200" y="2209800"/>
            <a:ext cx="1016000" cy="38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AE6F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2311400" y="2286000"/>
            <a:ext cx="86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15803D"/>
                </a:solidFill>
                <a:latin typeface="Arial"/>
              </a:rPr>
              <a:t>Telegram</a:t>
            </a:r>
          </a:p>
        </p:txBody>
      </p:sp>
      <p:sp>
        <p:nvSpPr>
          <p:cNvPr id="13" name="Shape 13"/>
          <p:cNvSpPr/>
          <p:nvPr/>
        </p:nvSpPr>
        <p:spPr>
          <a:xfrm>
            <a:off x="1193800" y="2692400"/>
            <a:ext cx="889000" cy="38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AE6FD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1270000" y="2768600"/>
            <a:ext cx="736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B45309"/>
                </a:solidFill>
                <a:latin typeface="Arial"/>
              </a:rPr>
              <a:t>Widget</a:t>
            </a:r>
          </a:p>
        </p:txBody>
      </p:sp>
      <p:sp>
        <p:nvSpPr>
          <p:cNvPr id="15" name="Shape 15"/>
          <p:cNvSpPr/>
          <p:nvPr/>
        </p:nvSpPr>
        <p:spPr>
          <a:xfrm>
            <a:off x="1193800" y="3276600"/>
            <a:ext cx="22352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193800" y="3708400"/>
            <a:ext cx="22352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193800" y="4140200"/>
            <a:ext cx="22352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8" name="Shape 18"/>
          <p:cNvSpPr/>
          <p:nvPr/>
        </p:nvSpPr>
        <p:spPr>
          <a:xfrm>
            <a:off x="1193800" y="4572000"/>
            <a:ext cx="22352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193800" y="5003800"/>
            <a:ext cx="22352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4191000" y="1778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500" b="1">
                <a:solidFill>
                  <a:srgbClr val="0F172A"/>
                </a:solidFill>
                <a:latin typeface="Arial"/>
              </a:rPr>
              <a:t>Khách hàng</a:t>
            </a:r>
          </a:p>
        </p:txBody>
      </p:sp>
      <p:sp>
        <p:nvSpPr>
          <p:cNvPr id="21" name="Shape 21"/>
          <p:cNvSpPr/>
          <p:nvPr/>
        </p:nvSpPr>
        <p:spPr>
          <a:xfrm>
            <a:off x="4191000" y="2311400"/>
            <a:ext cx="3302000" cy="5334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43400" y="24638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0F172A"/>
                </a:solidFill>
                <a:latin typeface="Arial"/>
              </a:rPr>
              <a:t>Mẫu iPhone 15 còn hàng không shop?</a:t>
            </a:r>
          </a:p>
        </p:txBody>
      </p:sp>
      <p:sp>
        <p:nvSpPr>
          <p:cNvPr id="23" name="Shape 23"/>
          <p:cNvSpPr/>
          <p:nvPr/>
        </p:nvSpPr>
        <p:spPr>
          <a:xfrm>
            <a:off x="6604000" y="3098800"/>
            <a:ext cx="3810000" cy="736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BF7D0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756400" y="32258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0F172A"/>
                </a:solidFill>
                <a:latin typeface="Arial"/>
              </a:rPr>
              <a:t>AI: Sản phẩm còn hàng, giá 20.990.000 VND. Bạn muốn tư vấn màu nào ạ?</a:t>
            </a:r>
          </a:p>
        </p:txBody>
      </p:sp>
      <p:sp>
        <p:nvSpPr>
          <p:cNvPr id="25" name="Shape 25"/>
          <p:cNvSpPr/>
          <p:nvPr/>
        </p:nvSpPr>
        <p:spPr>
          <a:xfrm>
            <a:off x="4191000" y="4140200"/>
            <a:ext cx="6223000" cy="609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4368800" y="4343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64748B"/>
                </a:solidFill>
                <a:latin typeface="Arial"/>
              </a:rPr>
              <a:t>Nhập phản hồi / dùng mẫu trả lời nhanh / bật tắt AI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43000" y="6019800"/>
            <a:ext cx="990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300">
                <a:solidFill>
                  <a:srgbClr val="475569"/>
                </a:solidFill>
                <a:latin typeface="Arial"/>
              </a:rPr>
              <a:t>Inbox tập trung giúp nhân viên xem hội thoại, lọc theo kênh/nhãn/phân công, trả lời realtime và bật/tắt AI tự động theo từng cuộc trò chuyện.</a:t>
            </a:r>
          </a:p>
        </p:txBody>
      </p:sp>
      <p:sp>
        <p:nvSpPr>
          <p:cNvPr id="28" name="Shape 2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3.2. Một số giao diện - Sản phẩm và tri thức AI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524000"/>
            <a:ext cx="10414000" cy="426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168400" y="17780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500" b="1">
                <a:solidFill>
                  <a:srgbClr val="0F172A"/>
                </a:solidFill>
                <a:latin typeface="Arial"/>
              </a:rPr>
              <a:t>Kho sản phẩm &amp; tri thức AI</a:t>
            </a:r>
          </a:p>
        </p:txBody>
      </p:sp>
      <p:sp>
        <p:nvSpPr>
          <p:cNvPr id="8" name="Shape 8"/>
          <p:cNvSpPr/>
          <p:nvPr/>
        </p:nvSpPr>
        <p:spPr>
          <a:xfrm>
            <a:off x="9017000" y="1727200"/>
            <a:ext cx="1600200" cy="38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AE6FD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9093200" y="1803400"/>
            <a:ext cx="14478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166534"/>
                </a:solidFill>
                <a:latin typeface="Arial"/>
              </a:rPr>
              <a:t>+ Thêm sản phẩm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168400" y="2387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475569"/>
                </a:solidFill>
                <a:latin typeface="Arial"/>
              </a:rPr>
              <a:t>SKU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073400" y="2387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475569"/>
                </a:solidFill>
                <a:latin typeface="Arial"/>
              </a:rPr>
              <a:t>Tên sản phẩm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978400" y="2387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475569"/>
                </a:solidFill>
                <a:latin typeface="Arial"/>
              </a:rPr>
              <a:t>Giá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883400" y="2387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475569"/>
                </a:solidFill>
                <a:latin typeface="Arial"/>
              </a:rPr>
              <a:t>Tồn kho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788400" y="23876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100" b="1">
                <a:solidFill>
                  <a:srgbClr val="475569"/>
                </a:solidFill>
                <a:latin typeface="Arial"/>
              </a:rPr>
              <a:t>Embedding</a:t>
            </a:r>
          </a:p>
        </p:txBody>
      </p:sp>
      <p:sp>
        <p:nvSpPr>
          <p:cNvPr id="15" name="Shape 15"/>
          <p:cNvSpPr/>
          <p:nvPr/>
        </p:nvSpPr>
        <p:spPr>
          <a:xfrm>
            <a:off x="1168400" y="2717800"/>
            <a:ext cx="949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168400" y="284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SKU-001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073400" y="28448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Sản phẩm demo 1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978400" y="28448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18.990.000đ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883400" y="28448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Còn hàng</a:t>
            </a:r>
          </a:p>
        </p:txBody>
      </p:sp>
      <p:sp>
        <p:nvSpPr>
          <p:cNvPr id="20" name="Shape 20"/>
          <p:cNvSpPr/>
          <p:nvPr/>
        </p:nvSpPr>
        <p:spPr>
          <a:xfrm>
            <a:off x="8763000" y="2781300"/>
            <a:ext cx="10414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839200" y="28575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Milvus OK</a:t>
            </a:r>
          </a:p>
        </p:txBody>
      </p:sp>
      <p:sp>
        <p:nvSpPr>
          <p:cNvPr id="22" name="Shape 22"/>
          <p:cNvSpPr/>
          <p:nvPr/>
        </p:nvSpPr>
        <p:spPr>
          <a:xfrm>
            <a:off x="1168400" y="3200400"/>
            <a:ext cx="949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168400" y="3327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SKU-002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073400" y="3327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Sản phẩm demo 2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978400" y="33274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19.990.000đ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883400" y="3327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Hết hàng</a:t>
            </a:r>
          </a:p>
        </p:txBody>
      </p:sp>
      <p:sp>
        <p:nvSpPr>
          <p:cNvPr id="27" name="Shape 27"/>
          <p:cNvSpPr/>
          <p:nvPr/>
        </p:nvSpPr>
        <p:spPr>
          <a:xfrm>
            <a:off x="8763000" y="3263900"/>
            <a:ext cx="10414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8839200" y="33401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Milvus OK</a:t>
            </a:r>
          </a:p>
        </p:txBody>
      </p:sp>
      <p:sp>
        <p:nvSpPr>
          <p:cNvPr id="29" name="Shape 29"/>
          <p:cNvSpPr/>
          <p:nvPr/>
        </p:nvSpPr>
        <p:spPr>
          <a:xfrm>
            <a:off x="1168400" y="3683000"/>
            <a:ext cx="949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684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SKU-003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073400" y="38100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Sản phẩm demo 3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978400" y="38100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20.990.000đ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883400" y="38100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Còn hàng</a:t>
            </a:r>
          </a:p>
        </p:txBody>
      </p:sp>
      <p:sp>
        <p:nvSpPr>
          <p:cNvPr id="34" name="Shape 34"/>
          <p:cNvSpPr/>
          <p:nvPr/>
        </p:nvSpPr>
        <p:spPr>
          <a:xfrm>
            <a:off x="8763000" y="3746500"/>
            <a:ext cx="10414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35" name="Text 35"/>
          <p:cNvSpPr txBox="1"/>
          <p:nvPr/>
        </p:nvSpPr>
        <p:spPr>
          <a:xfrm>
            <a:off x="8839200" y="38227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Milvus OK</a:t>
            </a:r>
          </a:p>
        </p:txBody>
      </p:sp>
      <p:sp>
        <p:nvSpPr>
          <p:cNvPr id="36" name="Shape 36"/>
          <p:cNvSpPr/>
          <p:nvPr/>
        </p:nvSpPr>
        <p:spPr>
          <a:xfrm>
            <a:off x="1168400" y="4165600"/>
            <a:ext cx="949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1168400" y="4292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SKU-004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073400" y="4292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Sản phẩm demo 4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978400" y="42926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21.990.000đ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83400" y="4292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Hết hàng</a:t>
            </a:r>
          </a:p>
        </p:txBody>
      </p:sp>
      <p:sp>
        <p:nvSpPr>
          <p:cNvPr id="41" name="Shape 41"/>
          <p:cNvSpPr/>
          <p:nvPr/>
        </p:nvSpPr>
        <p:spPr>
          <a:xfrm>
            <a:off x="8763000" y="4229100"/>
            <a:ext cx="10414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8839200" y="43053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Milvus OK</a:t>
            </a:r>
          </a:p>
        </p:txBody>
      </p:sp>
      <p:sp>
        <p:nvSpPr>
          <p:cNvPr id="43" name="Shape 43"/>
          <p:cNvSpPr/>
          <p:nvPr/>
        </p:nvSpPr>
        <p:spPr>
          <a:xfrm>
            <a:off x="1168400" y="4648200"/>
            <a:ext cx="949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168400" y="4775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SKU-005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3073400" y="4775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Sản phẩm demo 5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4978400" y="4775200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22.990.000đ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6883400" y="47752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000">
                <a:solidFill>
                  <a:srgbClr val="334155"/>
                </a:solidFill>
                <a:latin typeface="Arial"/>
              </a:rPr>
              <a:t>Còn hàng</a:t>
            </a:r>
          </a:p>
        </p:txBody>
      </p:sp>
      <p:sp>
        <p:nvSpPr>
          <p:cNvPr id="48" name="Shape 48"/>
          <p:cNvSpPr/>
          <p:nvPr/>
        </p:nvSpPr>
        <p:spPr>
          <a:xfrm>
            <a:off x="8763000" y="4711700"/>
            <a:ext cx="1041400" cy="3810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</p:sp>
      <p:sp>
        <p:nvSpPr>
          <p:cNvPr id="49" name="Text 49"/>
          <p:cNvSpPr txBox="1"/>
          <p:nvPr/>
        </p:nvSpPr>
        <p:spPr>
          <a:xfrm>
            <a:off x="8839200" y="4787900"/>
            <a:ext cx="88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000" b="1">
                <a:solidFill>
                  <a:srgbClr val="075985"/>
                </a:solidFill>
                <a:latin typeface="Arial"/>
              </a:rPr>
              <a:t>Milvus OK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143000" y="6019800"/>
            <a:ext cx="990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300">
                <a:solidFill>
                  <a:srgbClr val="475569"/>
                </a:solidFill>
                <a:latin typeface="Arial"/>
              </a:rPr>
              <a:t>Mỗi thay đổi sản phẩm đều được đồng bộ sang Milvus để dữ liệu tư vấn của AI luôn bám theo kho tri thức hiện tại của doanh nghiệp.</a:t>
            </a:r>
          </a:p>
        </p:txBody>
      </p:sp>
      <p:sp>
        <p:nvSpPr>
          <p:cNvPr id="51" name="Shape 51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2" name="Text 52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3.3. Một số giao diện Web Admin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89000" y="1498600"/>
            <a:ext cx="10414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hape 7"/>
          <p:cNvSpPr/>
          <p:nvPr/>
        </p:nvSpPr>
        <p:spPr>
          <a:xfrm>
            <a:off x="11938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3208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00A6A6"/>
                </a:solidFill>
                <a:latin typeface="Arial"/>
              </a:rPr>
              <a:t>1.240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3208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Tin nhắn</a:t>
            </a:r>
          </a:p>
        </p:txBody>
      </p:sp>
      <p:sp>
        <p:nvSpPr>
          <p:cNvPr id="10" name="Shape 10"/>
          <p:cNvSpPr/>
          <p:nvPr/>
        </p:nvSpPr>
        <p:spPr>
          <a:xfrm>
            <a:off x="35052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36322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F59E0B"/>
                </a:solidFill>
                <a:latin typeface="Arial"/>
              </a:rPr>
              <a:t>37%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6322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AI hỗ trợ</a:t>
            </a:r>
          </a:p>
        </p:txBody>
      </p:sp>
      <p:sp>
        <p:nvSpPr>
          <p:cNvPr id="13" name="Shape 13"/>
          <p:cNvSpPr/>
          <p:nvPr/>
        </p:nvSpPr>
        <p:spPr>
          <a:xfrm>
            <a:off x="58166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9436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6366F1"/>
                </a:solidFill>
                <a:latin typeface="Arial"/>
              </a:rPr>
              <a:t>18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59436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Doanh nghiệp</a:t>
            </a:r>
          </a:p>
        </p:txBody>
      </p:sp>
      <p:sp>
        <p:nvSpPr>
          <p:cNvPr id="16" name="Shape 16"/>
          <p:cNvSpPr/>
          <p:nvPr/>
        </p:nvSpPr>
        <p:spPr>
          <a:xfrm>
            <a:off x="8128000" y="1905000"/>
            <a:ext cx="1905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255000" y="2082800"/>
            <a:ext cx="1651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22C55E"/>
                </a:solidFill>
                <a:latin typeface="Arial"/>
              </a:rPr>
              <a:t>94%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255000" y="260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Kênh hoạt động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193800" y="3556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400" b="1">
                <a:solidFill>
                  <a:srgbClr val="0F172A"/>
                </a:solidFill>
                <a:latin typeface="Arial"/>
              </a:rPr>
              <a:t>Biểu đồ hoạt động theo ngày</a:t>
            </a:r>
          </a:p>
        </p:txBody>
      </p:sp>
      <p:sp>
        <p:nvSpPr>
          <p:cNvPr id="20" name="Shape 20"/>
          <p:cNvSpPr/>
          <p:nvPr/>
        </p:nvSpPr>
        <p:spPr>
          <a:xfrm>
            <a:off x="1397000" y="4711700"/>
            <a:ext cx="355600" cy="4445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2057400" y="4495800"/>
            <a:ext cx="355600" cy="6604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2717800" y="4279900"/>
            <a:ext cx="355600" cy="8763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3" name="Shape 23"/>
          <p:cNvSpPr/>
          <p:nvPr/>
        </p:nvSpPr>
        <p:spPr>
          <a:xfrm>
            <a:off x="3378200" y="4064000"/>
            <a:ext cx="355600" cy="10922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4038600" y="3848100"/>
            <a:ext cx="355600" cy="13081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5" name="Shape 25"/>
          <p:cNvSpPr/>
          <p:nvPr/>
        </p:nvSpPr>
        <p:spPr>
          <a:xfrm>
            <a:off x="4699000" y="3632200"/>
            <a:ext cx="355600" cy="1524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5359400" y="4559300"/>
            <a:ext cx="355600" cy="5969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7" name="Shape 27"/>
          <p:cNvSpPr/>
          <p:nvPr/>
        </p:nvSpPr>
        <p:spPr>
          <a:xfrm>
            <a:off x="6019800" y="4343400"/>
            <a:ext cx="355600" cy="812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8" name="Shape 28"/>
          <p:cNvSpPr/>
          <p:nvPr/>
        </p:nvSpPr>
        <p:spPr>
          <a:xfrm>
            <a:off x="6680200" y="4127500"/>
            <a:ext cx="355600" cy="10287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7340600" y="3911600"/>
            <a:ext cx="355600" cy="1244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0" name="Shape 30"/>
          <p:cNvSpPr/>
          <p:nvPr/>
        </p:nvSpPr>
        <p:spPr>
          <a:xfrm>
            <a:off x="8001000" y="3695700"/>
            <a:ext cx="355600" cy="14605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1" name="Shape 31"/>
          <p:cNvSpPr/>
          <p:nvPr/>
        </p:nvSpPr>
        <p:spPr>
          <a:xfrm>
            <a:off x="8661400" y="4622800"/>
            <a:ext cx="355600" cy="5334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1143000" y="6019800"/>
            <a:ext cx="990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300">
                <a:solidFill>
                  <a:srgbClr val="475569"/>
                </a:solidFill>
                <a:latin typeface="Arial"/>
              </a:rPr>
              <a:t>Admin theo dõi toàn hệ thống; chủ doanh nghiệp theo dõi số liệu hội thoại, tin nhắn, tỷ lệ AI, workload nhân viên và hiệu quả kênh.</a:t>
            </a:r>
          </a:p>
        </p:txBody>
      </p:sp>
      <p:sp>
        <p:nvSpPr>
          <p:cNvPr id="33" name="Shape 33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3.4. Đánh giá hiệu quả Chatbot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168400" y="1714500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295400" y="18923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00A6A6"/>
                </a:solidFill>
                <a:latin typeface="Arial"/>
              </a:rPr>
              <a:t>42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95400" y="2413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Lượt đánh giá</a:t>
            </a:r>
          </a:p>
        </p:txBody>
      </p:sp>
      <p:sp>
        <p:nvSpPr>
          <p:cNvPr id="9" name="Shape 9"/>
          <p:cNvSpPr/>
          <p:nvPr/>
        </p:nvSpPr>
        <p:spPr>
          <a:xfrm>
            <a:off x="3708400" y="1714500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835400" y="18923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22C55E"/>
                </a:solidFill>
                <a:latin typeface="Arial"/>
              </a:rPr>
              <a:t>4.96/5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835400" y="2413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Điểm trung bình</a:t>
            </a:r>
          </a:p>
        </p:txBody>
      </p:sp>
      <p:sp>
        <p:nvSpPr>
          <p:cNvPr id="12" name="Shape 12"/>
          <p:cNvSpPr/>
          <p:nvPr/>
        </p:nvSpPr>
        <p:spPr>
          <a:xfrm>
            <a:off x="6248400" y="1714500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375400" y="18923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F59E0B"/>
                </a:solidFill>
                <a:latin typeface="Arial"/>
              </a:rPr>
              <a:t>97.62%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375400" y="2413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Pass rate &gt;= 4</a:t>
            </a:r>
          </a:p>
        </p:txBody>
      </p:sp>
      <p:sp>
        <p:nvSpPr>
          <p:cNvPr id="15" name="Shape 15"/>
          <p:cNvSpPr/>
          <p:nvPr/>
        </p:nvSpPr>
        <p:spPr>
          <a:xfrm>
            <a:off x="8788400" y="1714500"/>
            <a:ext cx="21590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915400" y="18923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500" b="1">
                <a:solidFill>
                  <a:srgbClr val="6366F1"/>
                </a:solidFill>
                <a:latin typeface="Arial"/>
              </a:rPr>
              <a:t>5.31s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915400" y="2413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100">
                <a:solidFill>
                  <a:srgbClr val="475569"/>
                </a:solidFill>
                <a:latin typeface="Arial"/>
              </a:rPr>
              <a:t>Latency TB</a:t>
            </a:r>
          </a:p>
        </p:txBody>
      </p:sp>
      <p:sp>
        <p:nvSpPr>
          <p:cNvPr id="18" name="Shape 18"/>
          <p:cNvSpPr/>
          <p:nvPr/>
        </p:nvSpPr>
        <p:spPr>
          <a:xfrm>
            <a:off x="1244600" y="3429000"/>
            <a:ext cx="9715500" cy="196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1244600" y="3429000"/>
            <a:ext cx="101600" cy="1968500"/>
          </a:xfrm>
          <a:prstGeom prst="rect">
            <a:avLst/>
          </a:prstGeom>
          <a:solidFill>
            <a:srgbClr val="22C55E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1498600" y="3606800"/>
            <a:ext cx="93091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Kết quả chính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524000" y="4064000"/>
            <a:ext cx="9232900" cy="12319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AI tự động trả lời: 24 lượt, 5.00/5, pass rate 100%, latency trung bình 2.58s.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AI trợ lý nội bộ: 18 lượt, 4.91/5, pass rate 94.44%, latency trung bình 8.95s.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Không ghi nhận mâu thuẫn về giá, tồn kho hoặc chính sách trong các nhóm paraphrase.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Điểm cần cải thiện: phản hồi escalation cần thêm tín hiệu đồng cảm/xin lỗi rõ hơn.</a:t>
            </a:r>
          </a:p>
        </p:txBody>
      </p:sp>
      <p:sp>
        <p:nvSpPr>
          <p:cNvPr id="22" name="Shape 22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39800" y="1219200"/>
            <a:ext cx="1143000" cy="787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4800" b="1">
                <a:solidFill>
                  <a:srgbClr val="67E8F9"/>
                </a:solidFill>
                <a:latin typeface="Arial"/>
              </a:rPr>
              <a:t>4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939800" y="21590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3800" b="1">
                <a:solidFill>
                  <a:srgbClr val="FFFFFF"/>
                </a:solidFill>
                <a:latin typeface="Arial"/>
              </a:rPr>
              <a:t>DEMO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65200" y="3200400"/>
            <a:ext cx="9398000" cy="812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900">
                <a:solidFill>
                  <a:srgbClr val="CBD5E1"/>
                </a:solidFill>
                <a:latin typeface="Arial"/>
              </a:rPr>
              <a:t>Kịch bản đề xuất: kết nối kênh, quản lý sản phẩm, nhắn tin đa kênh, bật AI tự động, kiểm chứng RAG và dùng trợ lý AI nội bộ.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KẾT LUẬN - Kết quả đạt được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168400" y="1676400"/>
            <a:ext cx="965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1168400" y="1676400"/>
            <a:ext cx="101600" cy="3175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422400" y="1854200"/>
            <a:ext cx="924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Về lý thuyết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447800" y="2311400"/>
            <a:ext cx="9169400" cy="2438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Nắm được quy trình phân tích, thiết kế và triển khai hệ thống CRM đa kênh.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Vận dụng mô hình client-server, REST API, WebSocket và phân quyền JWT.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Hiểu và triển khai RAG: embedding, vector search, prompt grounding và kiểm soát hallucination.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Biết cách đánh giá chatbot bằng dataset kiểm thử, score, pass rate và latency.</a:t>
            </a:r>
          </a:p>
        </p:txBody>
      </p:sp>
      <p:sp>
        <p:nvSpPr>
          <p:cNvPr id="10" name="Shape 10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KẾT LUẬN - Kết quả đạt được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219200" y="1651000"/>
            <a:ext cx="9652000" cy="3556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Xây dựng thành công hệ thống ChatDesk gồm web dashboard, mobile app, backend API và widget chat.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Hoàn thiện các chức năng chính: xác thực, quản lý kênh, hội thoại, sản phẩm, nhân viên, nhãn, mẫu trả lời, phân công và thống kê.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Tích hợp AI tự động trả lời khách hàng và trợ lý AI nội bộ cho nhân viên.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RAG đã được triển khai thực tế với Milvus: lưu vector sản phẩm, search theo business_id, lọc score và đưa context vào prompt.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Có cơ chế selective rewrite để xử lý câu hỏi follow-up ngắn/mơ hồ mà vẫn kiểm soát latency.</a:t>
            </a:r>
          </a:p>
        </p:txBody>
      </p:sp>
      <p:sp>
        <p:nvSpPr>
          <p:cNvPr id="7" name="Shape 7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KẾT LUẬN - Hạn chế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1320800" y="1676400"/>
            <a:ext cx="9398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Dữ liệu đánh giá AI còn ở quy mô nhỏ, chưa bao phủ hết ngành hàng và tình huống hội thoại dài.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Một số luồng tích hợp kênh ngoài phụ thuộc webhook/token/nền tảng nên cần kiểm thử thêm trong môi trường production.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AI vẫn cần cải thiện phản hồi escalation, đặc biệt với khiếu nại hoặc yêu cầu hoàn tiền.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Chưa triển khai đầy đủ cơ chế quan sát nâng cao như tracing RAG, dashboard latency theo từng bước embedding/search/LLM.</a:t>
            </a:r>
          </a:p>
          <a:p>
            <a:pPr/>
            <a:r>
              <a:rPr lang="vi-VN" sz="1800">
                <a:solidFill>
                  <a:srgbClr val="0F172A"/>
                </a:solidFill>
                <a:latin typeface="Arial"/>
              </a:rPr>
              <a:t>• Ứng dụng mobile và widget còn có thể tối ưu thêm về trải nghiệm và kiểm thử thiết bị thực.</a:t>
            </a:r>
          </a:p>
        </p:txBody>
      </p:sp>
      <p:sp>
        <p:nvSpPr>
          <p:cNvPr id="7" name="Shape 7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35000" y="4318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2600" b="1">
                <a:solidFill>
                  <a:srgbClr val="0F172A"/>
                </a:solidFill>
                <a:latin typeface="Arial"/>
              </a:rPr>
              <a:t>KẾT LUẬN - Hướng phát triển</a:t>
            </a:r>
          </a:p>
        </p:txBody>
      </p:sp>
      <p:sp>
        <p:nvSpPr>
          <p:cNvPr id="5" name="Shape 5"/>
          <p:cNvSpPr/>
          <p:nvPr/>
        </p:nvSpPr>
        <p:spPr>
          <a:xfrm>
            <a:off x="660400" y="1066800"/>
            <a:ext cx="1625600" cy="508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736600" y="16764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7" name="Shape 7"/>
          <p:cNvSpPr/>
          <p:nvPr/>
        </p:nvSpPr>
        <p:spPr>
          <a:xfrm>
            <a:off x="736600" y="1676400"/>
            <a:ext cx="101600" cy="3429000"/>
          </a:xfrm>
          <a:prstGeom prst="rect">
            <a:avLst/>
          </a:prstGeom>
          <a:solidFill>
            <a:srgbClr val="00A6A6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9906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Nâng cấp AI/RAG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16000" y="2311400"/>
            <a:ext cx="2819400" cy="2692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Reranking kết quả Milvus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Hybrid search keyword + vector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Tracing và dashboard chất lượng RAG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Fine-tune prompt theo ngành hàng</a:t>
            </a:r>
          </a:p>
        </p:txBody>
      </p:sp>
      <p:sp>
        <p:nvSpPr>
          <p:cNvPr id="10" name="Shape 10"/>
          <p:cNvSpPr/>
          <p:nvPr/>
        </p:nvSpPr>
        <p:spPr>
          <a:xfrm>
            <a:off x="4445000" y="16764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" name="Shape 11"/>
          <p:cNvSpPr/>
          <p:nvPr/>
        </p:nvSpPr>
        <p:spPr>
          <a:xfrm>
            <a:off x="4445000" y="1676400"/>
            <a:ext cx="101600" cy="3429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46990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Mở rộng sản phẩm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724400" y="2311400"/>
            <a:ext cx="2819400" cy="2692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Thêm Zalo/Shopee/Lazada/TikTok Shop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Tự động tạo ticket/đơn hàng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Gợi ý phân công theo workload/SLA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Gói dịch vụ SaaS cho doanh nghiệp</a:t>
            </a:r>
          </a:p>
        </p:txBody>
      </p:sp>
      <p:sp>
        <p:nvSpPr>
          <p:cNvPr id="14" name="Shape 14"/>
          <p:cNvSpPr/>
          <p:nvPr/>
        </p:nvSpPr>
        <p:spPr>
          <a:xfrm>
            <a:off x="8153400" y="1676400"/>
            <a:ext cx="3302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5" name="Shape 15"/>
          <p:cNvSpPr/>
          <p:nvPr/>
        </p:nvSpPr>
        <p:spPr>
          <a:xfrm>
            <a:off x="8153400" y="1676400"/>
            <a:ext cx="101600" cy="342900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407400" y="1854200"/>
            <a:ext cx="28956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600" b="1">
                <a:solidFill>
                  <a:srgbClr val="0F172A"/>
                </a:solidFill>
                <a:latin typeface="Arial"/>
              </a:rPr>
              <a:t>Vận hành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32800" y="2311400"/>
            <a:ext cx="2819400" cy="2692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RBAC chi tiết hơn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Audit log và cảnh báo lỗi webhook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Tối ưu mobile offline/cache</a:t>
            </a:r>
          </a:p>
          <a:p>
            <a:pPr/>
            <a:r>
              <a:rPr lang="vi-VN" sz="1200">
                <a:solidFill>
                  <a:srgbClr val="334155"/>
                </a:solidFill>
                <a:latin typeface="Arial"/>
              </a:rPr>
              <a:t>• Bảo mật token và kiểm thử tải</a:t>
            </a:r>
          </a:p>
        </p:txBody>
      </p:sp>
      <p:sp>
        <p:nvSpPr>
          <p:cNvPr id="18" name="Shape 18"/>
          <p:cNvSpPr/>
          <p:nvPr/>
        </p:nvSpPr>
        <p:spPr>
          <a:xfrm>
            <a:off x="635000" y="6502400"/>
            <a:ext cx="1092200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60400" y="6553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/>
            <a:r>
              <a:rPr lang="vi-VN" sz="800">
                <a:solidFill>
                  <a:srgbClr val="64748B"/>
                </a:solidFill>
                <a:latin typeface="Arial"/>
              </a:rPr>
              <a:t>ChatDesk - Báo cáo đồ án tốt nghiệp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1430000" y="65532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r"/>
            <a:r>
              <a:rPr lang="vi-VN" sz="900">
                <a:solidFill>
                  <a:srgbClr val="64748B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1270000" y="23495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4200" b="1">
                <a:solidFill>
                  <a:srgbClr val="FFFFFF"/>
                </a:solidFill>
                <a:latin typeface="Arial"/>
              </a:rPr>
              <a:t>EM XIN TRÂN TRỌNG CẢM ƠN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1498600" y="3302000"/>
            <a:ext cx="9194800" cy="5334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2400" b="1">
                <a:solidFill>
                  <a:srgbClr val="67E8F9"/>
                </a:solidFill>
                <a:latin typeface="Arial"/>
              </a:rPr>
              <a:t>THẦY CÔ VÀ CÁC BẠN ĐÃ CHÚ Ý LẮNG NGHE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498600" y="4318000"/>
            <a:ext cx="9194800" cy="355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2860" bIns="22860">
            <a:normAutofit/>
          </a:bodyPr>
          <a:lstStyle/>
          <a:p>
            <a:pPr algn="ctr"/>
            <a:r>
              <a:rPr lang="vi-VN" sz="1500">
                <a:solidFill>
                  <a:srgbClr val="CBD5E1"/>
                </a:solidFill>
                <a:latin typeface="Arial"/>
              </a:rPr>
              <a:t>ChatDesk - CRM quản lý tin nhắn khách hàng tập trung có tích hợp Chatbot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4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B6D67"/>
      </a:accent1>
      <a:accent2>
        <a:srgbClr val="78D7D7"/>
      </a:accent2>
      <a:accent3>
        <a:srgbClr val="55B0DA"/>
      </a:accent3>
      <a:accent4>
        <a:srgbClr val="356C84"/>
      </a:accent4>
      <a:accent5>
        <a:srgbClr val="2B5A67"/>
      </a:accent5>
      <a:accent6>
        <a:srgbClr val="2B2A3A"/>
      </a:accent6>
      <a:hlink>
        <a:srgbClr val="0000FF"/>
      </a:hlink>
      <a:folHlink>
        <a:srgbClr val="800080"/>
      </a:folHlink>
    </a:clrScheme>
    <a:fontScheme name="ALLPPT PONTS">
      <a:majorFont>
        <a:latin typeface="Arial"/>
        <a:ea typeface="Malgun Gothic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B6D67"/>
      </a:accent1>
      <a:accent2>
        <a:srgbClr val="78D7D7"/>
      </a:accent2>
      <a:accent3>
        <a:srgbClr val="55B0DA"/>
      </a:accent3>
      <a:accent4>
        <a:srgbClr val="356C84"/>
      </a:accent4>
      <a:accent5>
        <a:srgbClr val="2B5A67"/>
      </a:accent5>
      <a:accent6>
        <a:srgbClr val="2B2A3A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B6D67"/>
      </a:accent1>
      <a:accent2>
        <a:srgbClr val="78D7D7"/>
      </a:accent2>
      <a:accent3>
        <a:srgbClr val="55B0DA"/>
      </a:accent3>
      <a:accent4>
        <a:srgbClr val="356C84"/>
      </a:accent4>
      <a:accent5>
        <a:srgbClr val="2B5A67"/>
      </a:accent5>
      <a:accent6>
        <a:srgbClr val="2B2A3A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Section Break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Section Break Slide Master">
  <a:themeElements>
    <a:clrScheme name="ALLPPT-13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3C03"/>
      </a:accent1>
      <a:accent2>
        <a:srgbClr val="FF8853"/>
      </a:accent2>
      <a:accent3>
        <a:srgbClr val="F0D152"/>
      </a:accent3>
      <a:accent4>
        <a:srgbClr val="CADA4C"/>
      </a:accent4>
      <a:accent5>
        <a:srgbClr val="19BD9E"/>
      </a:accent5>
      <a:accent6>
        <a:srgbClr val="019ED7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Contents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7.xml><?xml version="1.0" encoding="utf-8"?>
<a:theme xmlns:a="http://schemas.openxmlformats.org/drawingml/2006/main" name="1_Cover and End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4864</TotalTime>
  <Words>1381</Words>
  <Application>Microsoft Office PowerPoint</Application>
  <PresentationFormat>Widescreen</PresentationFormat>
  <Paragraphs>171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Calibri</vt:lpstr>
      <vt:lpstr>Times New Roman</vt:lpstr>
      <vt:lpstr>Wingdings</vt:lpstr>
      <vt:lpstr>Cover and End Slide Master</vt:lpstr>
      <vt:lpstr>Contents Slide Master</vt:lpstr>
      <vt:lpstr>Section Break Slide Master</vt:lpstr>
      <vt:lpstr>1_Section Break Slide Master</vt:lpstr>
      <vt:lpstr>2_Section Break Slide Master</vt:lpstr>
      <vt:lpstr>1_Contents Slide Master</vt:lpstr>
      <vt:lpstr>1_Cover and End Slide Master</vt:lpstr>
      <vt:lpstr>PowerPoint Presentation</vt:lpstr>
      <vt:lpstr>Nội Dung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Nguyễn Văn Phác</cp:lastModifiedBy>
  <cp:revision>128</cp:revision>
  <dcterms:created xsi:type="dcterms:W3CDTF">2020-01-20T05:08:25Z</dcterms:created>
  <dcterms:modified xsi:type="dcterms:W3CDTF">2026-04-22T15:05:45Z</dcterms:modified>
</cp:coreProperties>
</file>