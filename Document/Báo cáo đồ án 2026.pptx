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36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3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8288000" cy="10287000"/>
  <p:notesSz cx="6858000" cy="9144000"/>
  <p:embeddedFontLs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Open Sans Bold" panose="020B0806030504020204" charset="0"/>
      <p:regular r:id="rId24"/>
    </p:embeddedFont>
    <p:embeddedFont>
      <p:font typeface="Open Sans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3517" autoAdjust="0"/>
  </p:normalViewPr>
  <p:slideViewPr>
    <p:cSldViewPr>
      <p:cViewPr varScale="1">
        <p:scale>
          <a:sx n="49" d="100"/>
          <a:sy n="49" d="100"/>
        </p:scale>
        <p:origin x="107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F0601-B930-487D-9028-4F4BE7DACF1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DCC8B-EEAA-4D08-AA97-55EBEC404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20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DCC8B-EEAA-4D08-AA97-55EBEC4049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93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DCC8B-EEAA-4D08-AA97-55EBEC4049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01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DCC8B-EEAA-4D08-AA97-55EBEC4049D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41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81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-powerpoint-templates-design.com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hyperlink" Target="https://drive.google.com/drive/folders/1mbwKd_GUPrzOsvYDGJ6pnhkF9rXS1Gkp" TargetMode="External"/><Relationship Id="rId7" Type="http://schemas.openxmlformats.org/officeDocument/2006/relationships/image" Target="../media/image20.jpe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E33902-1F4F-4FB9-8375-0792F4B73E33}"/>
              </a:ext>
            </a:extLst>
          </p:cNvPr>
          <p:cNvSpPr/>
          <p:nvPr/>
        </p:nvSpPr>
        <p:spPr>
          <a:xfrm>
            <a:off x="-2" y="7521191"/>
            <a:ext cx="18287994" cy="2722101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  <a:alpha val="0"/>
                </a:schemeClr>
              </a:gs>
              <a:gs pos="100000">
                <a:schemeClr val="tx1">
                  <a:lumMod val="65000"/>
                  <a:lumOff val="35000"/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4C724-0776-4328-8F0A-B72DA1579537}"/>
              </a:ext>
            </a:extLst>
          </p:cNvPr>
          <p:cNvSpPr txBox="1"/>
          <p:nvPr/>
        </p:nvSpPr>
        <p:spPr>
          <a:xfrm>
            <a:off x="2004320" y="5242432"/>
            <a:ext cx="14279349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vi-VN" sz="4800" b="1" dirty="0">
                <a:solidFill>
                  <a:srgbClr val="234F68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PHÁT TRIỂN ỨNG DỤNG CRM </a:t>
            </a:r>
          </a:p>
          <a:p>
            <a:pPr algn="ctr"/>
            <a:r>
              <a:rPr lang="vi-VN" sz="4800" b="1" dirty="0">
                <a:solidFill>
                  <a:srgbClr val="234F68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QUẢN LÝ TIN NHẮN KHÁCH HÀNG TẬP TRUNG </a:t>
            </a:r>
          </a:p>
          <a:p>
            <a:pPr algn="ctr"/>
            <a:r>
              <a:rPr lang="vi-VN" sz="4800" b="1" dirty="0">
                <a:solidFill>
                  <a:srgbClr val="234F68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CHO DOANH NGHIỆP CÓ TÍCH HỢP CHATBOT</a:t>
            </a:r>
            <a:endParaRPr lang="en-US" sz="4800" b="1" dirty="0">
              <a:solidFill>
                <a:srgbClr val="234F68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877E1-FAF1-E034-804A-A86A233BF005}"/>
              </a:ext>
            </a:extLst>
          </p:cNvPr>
          <p:cNvSpPr txBox="1"/>
          <p:nvPr/>
        </p:nvSpPr>
        <p:spPr>
          <a:xfrm>
            <a:off x="5581895" y="200472"/>
            <a:ext cx="74474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200" dirty="0">
                <a:solidFill>
                  <a:srgbClr val="EE2E2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HỌC VIỆN KỸ THUẬT MẬT MÃ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132A32-D9AD-4BF0-BB96-5522EBEFCBFA}"/>
              </a:ext>
            </a:extLst>
          </p:cNvPr>
          <p:cNvSpPr txBox="1"/>
          <p:nvPr/>
        </p:nvSpPr>
        <p:spPr>
          <a:xfrm>
            <a:off x="4612443" y="4161259"/>
            <a:ext cx="9358530" cy="813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900"/>
              </a:spcBef>
            </a:pPr>
            <a:r>
              <a:rPr lang="en-US" sz="4200" b="1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BÁO CÁO ĐỒ ÁN TỐT NGHIỆP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2EF3B1-AE4A-4AB7-BC69-2D42B31E9A16}"/>
              </a:ext>
            </a:extLst>
          </p:cNvPr>
          <p:cNvSpPr txBox="1"/>
          <p:nvPr/>
        </p:nvSpPr>
        <p:spPr>
          <a:xfrm>
            <a:off x="1069009" y="4817651"/>
            <a:ext cx="2278967" cy="71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sz="3600" b="1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ĐỀ TÀI: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72110-FA0A-4D12-BBD1-54B84DD7EABC}"/>
              </a:ext>
            </a:extLst>
          </p:cNvPr>
          <p:cNvSpPr txBox="1"/>
          <p:nvPr/>
        </p:nvSpPr>
        <p:spPr>
          <a:xfrm>
            <a:off x="5300626" y="945048"/>
            <a:ext cx="80322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200" dirty="0">
                <a:solidFill>
                  <a:srgbClr val="EE2E2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KHOA CÔNG NGHỆ THÔNG TIN</a:t>
            </a:r>
          </a:p>
        </p:txBody>
      </p:sp>
      <p:sp>
        <p:nvSpPr>
          <p:cNvPr id="15" name="TextBox 14">
            <a:hlinkClick r:id="rId3"/>
            <a:extLst>
              <a:ext uri="{FF2B5EF4-FFF2-40B4-BE49-F238E27FC236}">
                <a16:creationId xmlns:a16="http://schemas.microsoft.com/office/drawing/2014/main" id="{00924920-69CF-4271-872D-6BBF51D5E2D7}"/>
              </a:ext>
            </a:extLst>
          </p:cNvPr>
          <p:cNvSpPr txBox="1"/>
          <p:nvPr/>
        </p:nvSpPr>
        <p:spPr>
          <a:xfrm>
            <a:off x="-3" y="9238564"/>
            <a:ext cx="18287994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371600" defTabSz="1371600">
              <a:defRPr/>
            </a:pPr>
            <a:r>
              <a:rPr lang="en-US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Sinh </a:t>
            </a:r>
            <a:r>
              <a:rPr lang="en-US" altLang="ko-KR" sz="3000" dirty="0" err="1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viên</a:t>
            </a:r>
            <a:r>
              <a:rPr lang="en-US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3000" dirty="0" err="1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thực</a:t>
            </a:r>
            <a:r>
              <a:rPr lang="en-US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3000" dirty="0" err="1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hiện</a:t>
            </a:r>
            <a:r>
              <a:rPr lang="en-US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Nguyễn </a:t>
            </a:r>
            <a:r>
              <a:rPr lang="vi-VN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 Huy</a:t>
            </a:r>
            <a:r>
              <a:rPr lang="en-US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vi-VN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CT060417</a:t>
            </a:r>
            <a:endParaRPr lang="ko-KR" altLang="en-US" sz="3000" dirty="0">
              <a:solidFill>
                <a:srgbClr val="234F68"/>
              </a:solidFill>
              <a:latin typeface="Open Sans" panose="020B0606030504020204" pitchFamily="34" charset="0"/>
              <a:ea typeface="맑은 고딕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F2E551-3A66-4BDF-A0EF-9F6F89749628}"/>
              </a:ext>
            </a:extLst>
          </p:cNvPr>
          <p:cNvSpPr txBox="1"/>
          <p:nvPr/>
        </p:nvSpPr>
        <p:spPr>
          <a:xfrm>
            <a:off x="3" y="7600737"/>
            <a:ext cx="18287997" cy="160556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371600" defTabSz="1371600">
              <a:spcBef>
                <a:spcPts val="450"/>
              </a:spcBef>
              <a:defRPr/>
            </a:pPr>
            <a:r>
              <a:rPr lang="en-US" altLang="ko-KR" sz="3000" dirty="0" err="1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Giáo</a:t>
            </a:r>
            <a:r>
              <a:rPr lang="en-US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3000" dirty="0" err="1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viên</a:t>
            </a:r>
            <a:r>
              <a:rPr lang="en-US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3000" dirty="0" err="1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hướng</a:t>
            </a:r>
            <a:r>
              <a:rPr lang="en-US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ko-KR" sz="3000" dirty="0" err="1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dẫn</a:t>
            </a:r>
            <a:r>
              <a:rPr lang="en-US" altLang="ko-KR" sz="3000" dirty="0">
                <a:solidFill>
                  <a:srgbClr val="234F6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2743200" defTabSz="1371600">
              <a:spcBef>
                <a:spcPts val="450"/>
              </a:spcBef>
              <a:defRPr/>
            </a:pPr>
            <a:r>
              <a:rPr lang="en-US" altLang="ko-KR" sz="3000" b="1" dirty="0">
                <a:solidFill>
                  <a:srgbClr val="234F68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TS. </a:t>
            </a:r>
            <a:r>
              <a:rPr lang="vi-VN" altLang="ko-KR" sz="3000" b="1" dirty="0">
                <a:solidFill>
                  <a:srgbClr val="234F68"/>
                </a:solidFill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Nghiêm Nguyễn Việt Dũng</a:t>
            </a:r>
            <a:endParaRPr lang="en-US" altLang="ko-KR" sz="3000" b="1" dirty="0">
              <a:solidFill>
                <a:srgbClr val="234F68"/>
              </a:solidFill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  <a:p>
            <a:pPr marL="2743200" defTabSz="1371600">
              <a:spcBef>
                <a:spcPts val="450"/>
              </a:spcBef>
              <a:defRPr/>
            </a:pPr>
            <a:r>
              <a:rPr lang="en-US" altLang="ko-KR" sz="3000" dirty="0">
                <a:solidFill>
                  <a:srgbClr val="234F68"/>
                </a:solidFill>
                <a:latin typeface="Open Sans "/>
                <a:ea typeface="Open Sans Bold" panose="020B0604020202020204" charset="0"/>
                <a:cs typeface="Open Sans Bold" panose="020B0604020202020204" charset="0"/>
              </a:rPr>
              <a:t>Khoa Công </a:t>
            </a:r>
            <a:r>
              <a:rPr lang="en-US" altLang="ko-KR" sz="3000" dirty="0" err="1">
                <a:solidFill>
                  <a:srgbClr val="234F68"/>
                </a:solidFill>
                <a:latin typeface="Open Sans "/>
                <a:ea typeface="Open Sans Bold" panose="020B0604020202020204" charset="0"/>
                <a:cs typeface="Open Sans Bold" panose="020B0604020202020204" charset="0"/>
              </a:rPr>
              <a:t>nghệ</a:t>
            </a:r>
            <a:r>
              <a:rPr lang="en-US" altLang="ko-KR" sz="3000" dirty="0">
                <a:solidFill>
                  <a:srgbClr val="234F68"/>
                </a:solidFill>
                <a:latin typeface="Open Sans 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en-US" altLang="ko-KR" sz="3000" dirty="0" err="1">
                <a:solidFill>
                  <a:srgbClr val="234F68"/>
                </a:solidFill>
                <a:latin typeface="Open Sans "/>
                <a:ea typeface="Open Sans Bold" panose="020B0604020202020204" charset="0"/>
                <a:cs typeface="Open Sans Bold" panose="020B0604020202020204" charset="0"/>
              </a:rPr>
              <a:t>thông</a:t>
            </a:r>
            <a:r>
              <a:rPr lang="en-US" altLang="ko-KR" sz="3000" dirty="0">
                <a:solidFill>
                  <a:srgbClr val="234F68"/>
                </a:solidFill>
                <a:latin typeface="Open Sans "/>
                <a:ea typeface="Open Sans Bold" panose="020B0604020202020204" charset="0"/>
                <a:cs typeface="Open Sans Bold" panose="020B0604020202020204" charset="0"/>
              </a:rPr>
              <a:t> tin – </a:t>
            </a:r>
            <a:r>
              <a:rPr lang="vi-VN" altLang="ko-KR" sz="3000" dirty="0">
                <a:solidFill>
                  <a:srgbClr val="234F68"/>
                </a:solidFill>
                <a:latin typeface="Open Sans "/>
                <a:ea typeface="Open Sans Bold" panose="020B0604020202020204" charset="0"/>
                <a:cs typeface="Open Sans Bold" panose="020B0604020202020204" charset="0"/>
              </a:rPr>
              <a:t>Đại học công nghệ, Đại học quốc gia Hà Nội</a:t>
            </a:r>
            <a:endParaRPr lang="ko-KR" altLang="en-US" sz="3000" dirty="0">
              <a:solidFill>
                <a:srgbClr val="234F68"/>
              </a:solidFill>
              <a:latin typeface="Open Sans "/>
              <a:ea typeface="맑은 고딕"/>
              <a:cs typeface="Open Sans Bold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24707F-8003-26DA-F4D6-C7B2D89E6A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836" y="1678680"/>
            <a:ext cx="2531745" cy="2499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09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20229" y="4470746"/>
            <a:ext cx="8252837" cy="825283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0543171" y="1689836"/>
            <a:ext cx="2961571" cy="5859977"/>
            <a:chOff x="0" y="0"/>
            <a:chExt cx="2620010" cy="5184140"/>
          </a:xfrm>
        </p:grpSpPr>
        <p:sp>
          <p:nvSpPr>
            <p:cNvPr id="6" name="Freeform 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12" r="-1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3703249" y="2737187"/>
            <a:ext cx="2961571" cy="5859977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12" r="-1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7856" y="573200"/>
            <a:ext cx="4982921" cy="846459"/>
            <a:chOff x="0" y="-28575"/>
            <a:chExt cx="6643895" cy="1128613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1036538"/>
              <a:ext cx="1390050" cy="63500"/>
              <a:chOff x="0" y="0"/>
              <a:chExt cx="274578" cy="1254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74578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274578" h="12543">
                    <a:moveTo>
                      <a:pt x="6272" y="0"/>
                    </a:moveTo>
                    <a:lnTo>
                      <a:pt x="268306" y="0"/>
                    </a:lnTo>
                    <a:cubicBezTo>
                      <a:pt x="269970" y="0"/>
                      <a:pt x="271565" y="661"/>
                      <a:pt x="272741" y="1837"/>
                    </a:cubicBezTo>
                    <a:cubicBezTo>
                      <a:pt x="273917" y="3013"/>
                      <a:pt x="274578" y="4608"/>
                      <a:pt x="274578" y="6272"/>
                    </a:cubicBezTo>
                    <a:lnTo>
                      <a:pt x="274578" y="6272"/>
                    </a:lnTo>
                    <a:cubicBezTo>
                      <a:pt x="274578" y="7935"/>
                      <a:pt x="273917" y="9530"/>
                      <a:pt x="272741" y="10706"/>
                    </a:cubicBezTo>
                    <a:cubicBezTo>
                      <a:pt x="271565" y="11882"/>
                      <a:pt x="269970" y="12543"/>
                      <a:pt x="268306" y="12543"/>
                    </a:cubicBezTo>
                    <a:lnTo>
                      <a:pt x="6272" y="12543"/>
                    </a:lnTo>
                    <a:cubicBezTo>
                      <a:pt x="4608" y="12543"/>
                      <a:pt x="3013" y="11882"/>
                      <a:pt x="1837" y="10706"/>
                    </a:cubicBezTo>
                    <a:cubicBezTo>
                      <a:pt x="661" y="9530"/>
                      <a:pt x="0" y="7935"/>
                      <a:pt x="0" y="6272"/>
                    </a:cubicBezTo>
                    <a:lnTo>
                      <a:pt x="0" y="6272"/>
                    </a:lnTo>
                    <a:cubicBezTo>
                      <a:pt x="0" y="4608"/>
                      <a:pt x="661" y="3013"/>
                      <a:pt x="1837" y="1837"/>
                    </a:cubicBezTo>
                    <a:cubicBezTo>
                      <a:pt x="3013" y="661"/>
                      <a:pt x="4608" y="0"/>
                      <a:pt x="6272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274578" cy="506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0" y="-28575"/>
              <a:ext cx="6643895" cy="80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79"/>
                </a:lnSpc>
              </a:pPr>
              <a:r>
                <a:rPr lang="en-US" sz="3999" b="1" dirty="0">
                  <a:solidFill>
                    <a:srgbClr val="537BF1"/>
                  </a:solidFill>
                  <a:latin typeface="Open Sans Bold" panose="020B0604020202020204" charset="0"/>
                  <a:ea typeface="Open Sans Bold" panose="020B0604020202020204" charset="0"/>
                  <a:cs typeface="Open Sans Bold" panose="020B0604020202020204" charset="0"/>
                  <a:sym typeface="Poppins Bold"/>
                </a:rPr>
                <a:t>NỘI DUNG CHÍNH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2627525"/>
            <a:ext cx="8196144" cy="677751"/>
            <a:chOff x="0" y="0"/>
            <a:chExt cx="10928192" cy="903667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903667" cy="903667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113907" y="-76200"/>
              <a:ext cx="9814285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Tổng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quan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đề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tài</a:t>
              </a:r>
              <a:endParaRPr lang="en-US" sz="3999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1094" y="244189"/>
              <a:ext cx="661480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28700" y="3942074"/>
            <a:ext cx="9210484" cy="677751"/>
            <a:chOff x="0" y="0"/>
            <a:chExt cx="12280645" cy="903667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903667" cy="903667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113907" y="-76200"/>
              <a:ext cx="11166738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Phân tích thiết kế hệ thống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1094" y="244189"/>
              <a:ext cx="661480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28700" y="5257999"/>
            <a:ext cx="7845459" cy="677751"/>
            <a:chOff x="0" y="0"/>
            <a:chExt cx="10460612" cy="903667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903667" cy="903667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1113907" y="-76200"/>
              <a:ext cx="9346705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Demo sản phẩm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1094" y="244189"/>
              <a:ext cx="661480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28700" y="6573925"/>
            <a:ext cx="7845459" cy="677751"/>
            <a:chOff x="0" y="0"/>
            <a:chExt cx="10460612" cy="903667"/>
          </a:xfrm>
        </p:grpSpPr>
        <p:grpSp>
          <p:nvGrpSpPr>
            <p:cNvPr id="49" name="Group 49"/>
            <p:cNvGrpSpPr/>
            <p:nvPr/>
          </p:nvGrpSpPr>
          <p:grpSpPr>
            <a:xfrm>
              <a:off x="0" y="0"/>
              <a:ext cx="903667" cy="903667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1113907" y="-76200"/>
              <a:ext cx="9346705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Kết quả và kết luận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1094" y="244189"/>
              <a:ext cx="661480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0584" y="4153008"/>
            <a:ext cx="13286833" cy="1135122"/>
            <a:chOff x="0" y="0"/>
            <a:chExt cx="17715777" cy="151349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519526" cy="1513496"/>
              <a:chOff x="0" y="0"/>
              <a:chExt cx="816039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603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6039" h="812800">
                    <a:moveTo>
                      <a:pt x="408019" y="0"/>
                    </a:moveTo>
                    <a:cubicBezTo>
                      <a:pt x="182676" y="0"/>
                      <a:pt x="0" y="181951"/>
                      <a:pt x="0" y="406400"/>
                    </a:cubicBezTo>
                    <a:cubicBezTo>
                      <a:pt x="0" y="630849"/>
                      <a:pt x="182676" y="812800"/>
                      <a:pt x="408019" y="812800"/>
                    </a:cubicBezTo>
                    <a:cubicBezTo>
                      <a:pt x="633362" y="812800"/>
                      <a:pt x="816039" y="630849"/>
                      <a:pt x="816039" y="406400"/>
                    </a:cubicBezTo>
                    <a:cubicBezTo>
                      <a:pt x="816039" y="181951"/>
                      <a:pt x="633362" y="0"/>
                      <a:pt x="408019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504" y="28575"/>
                <a:ext cx="663031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873046" y="-114300"/>
              <a:ext cx="15842731" cy="1333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6000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Tổng</a:t>
              </a:r>
              <a:r>
                <a:rPr lang="en-US" sz="6000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6000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quan</a:t>
              </a:r>
              <a:r>
                <a:rPr lang="en-US" sz="6000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6000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đề</a:t>
              </a:r>
              <a:r>
                <a:rPr lang="en-US" sz="6000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6000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tài</a:t>
              </a:r>
              <a:endParaRPr lang="en-US" sz="60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3620" y="399685"/>
              <a:ext cx="1112286" cy="6569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20"/>
                </a:lnSpc>
                <a:spcBef>
                  <a:spcPct val="0"/>
                </a:spcBef>
              </a:pPr>
              <a:r>
                <a:rPr lang="en-US" sz="301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913952" y="5221455"/>
            <a:ext cx="12704092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Bài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toán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CRM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đa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kênh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cho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doanh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nghiệp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nhỏ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vừa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có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tích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hợp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chatbot AI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dựa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trên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riêng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của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từng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cửa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hàng</a:t>
            </a: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15871" y="8025639"/>
            <a:ext cx="3890822" cy="38908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534" y="90291"/>
            <a:ext cx="2407451" cy="240745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9381" y="0"/>
                  </a:moveTo>
                  <a:lnTo>
                    <a:pt x="613419" y="0"/>
                  </a:lnTo>
                  <a:cubicBezTo>
                    <a:pt x="723534" y="0"/>
                    <a:pt x="812800" y="89266"/>
                    <a:pt x="812800" y="199381"/>
                  </a:cubicBezTo>
                  <a:lnTo>
                    <a:pt x="812800" y="613419"/>
                  </a:lnTo>
                  <a:cubicBezTo>
                    <a:pt x="812800" y="723534"/>
                    <a:pt x="723534" y="812800"/>
                    <a:pt x="613419" y="812800"/>
                  </a:cubicBezTo>
                  <a:lnTo>
                    <a:pt x="199381" y="812800"/>
                  </a:lnTo>
                  <a:cubicBezTo>
                    <a:pt x="89266" y="812800"/>
                    <a:pt x="0" y="723534"/>
                    <a:pt x="0" y="613419"/>
                  </a:cubicBezTo>
                  <a:lnTo>
                    <a:pt x="0" y="199381"/>
                  </a:lnTo>
                  <a:cubicBezTo>
                    <a:pt x="0" y="89266"/>
                    <a:pt x="89266" y="0"/>
                    <a:pt x="199381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584982" y="1184975"/>
            <a:ext cx="1989734" cy="198973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41238" y="0"/>
                  </a:moveTo>
                  <a:lnTo>
                    <a:pt x="571562" y="0"/>
                  </a:lnTo>
                  <a:cubicBezTo>
                    <a:pt x="635542" y="0"/>
                    <a:pt x="696902" y="25416"/>
                    <a:pt x="742143" y="70657"/>
                  </a:cubicBezTo>
                  <a:cubicBezTo>
                    <a:pt x="787384" y="115898"/>
                    <a:pt x="812800" y="177258"/>
                    <a:pt x="812800" y="241238"/>
                  </a:cubicBezTo>
                  <a:lnTo>
                    <a:pt x="812800" y="571562"/>
                  </a:lnTo>
                  <a:cubicBezTo>
                    <a:pt x="812800" y="635542"/>
                    <a:pt x="787384" y="696902"/>
                    <a:pt x="742143" y="742143"/>
                  </a:cubicBezTo>
                  <a:cubicBezTo>
                    <a:pt x="696902" y="787384"/>
                    <a:pt x="635542" y="812800"/>
                    <a:pt x="571562" y="812800"/>
                  </a:cubicBezTo>
                  <a:lnTo>
                    <a:pt x="241238" y="812800"/>
                  </a:lnTo>
                  <a:cubicBezTo>
                    <a:pt x="177258" y="812800"/>
                    <a:pt x="115898" y="787384"/>
                    <a:pt x="70657" y="742143"/>
                  </a:cubicBezTo>
                  <a:cubicBezTo>
                    <a:pt x="25416" y="696902"/>
                    <a:pt x="0" y="635542"/>
                    <a:pt x="0" y="571562"/>
                  </a:cubicBezTo>
                  <a:lnTo>
                    <a:pt x="0" y="241238"/>
                  </a:lnTo>
                  <a:cubicBezTo>
                    <a:pt x="0" y="177258"/>
                    <a:pt x="25416" y="115898"/>
                    <a:pt x="70657" y="70657"/>
                  </a:cubicBezTo>
                  <a:cubicBezTo>
                    <a:pt x="115898" y="25416"/>
                    <a:pt x="177258" y="0"/>
                    <a:pt x="241238" y="0"/>
                  </a:cubicBezTo>
                  <a:close/>
                </a:path>
              </a:pathLst>
            </a:custGeom>
            <a:blipFill>
              <a:blip r:embed="rId3"/>
              <a:stretch>
                <a:fillRect l="-32051" r="-32051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5227" y="2717603"/>
            <a:ext cx="1706064" cy="170606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81349" y="0"/>
                  </a:moveTo>
                  <a:lnTo>
                    <a:pt x="531451" y="0"/>
                  </a:lnTo>
                  <a:cubicBezTo>
                    <a:pt x="606070" y="0"/>
                    <a:pt x="677632" y="29642"/>
                    <a:pt x="730395" y="82405"/>
                  </a:cubicBezTo>
                  <a:cubicBezTo>
                    <a:pt x="783158" y="135168"/>
                    <a:pt x="812800" y="206730"/>
                    <a:pt x="812800" y="281349"/>
                  </a:cubicBezTo>
                  <a:lnTo>
                    <a:pt x="812800" y="531451"/>
                  </a:lnTo>
                  <a:cubicBezTo>
                    <a:pt x="812800" y="606070"/>
                    <a:pt x="783158" y="677632"/>
                    <a:pt x="730395" y="730395"/>
                  </a:cubicBezTo>
                  <a:cubicBezTo>
                    <a:pt x="677632" y="783158"/>
                    <a:pt x="606070" y="812800"/>
                    <a:pt x="531451" y="812800"/>
                  </a:cubicBezTo>
                  <a:lnTo>
                    <a:pt x="281349" y="812800"/>
                  </a:lnTo>
                  <a:cubicBezTo>
                    <a:pt x="206730" y="812800"/>
                    <a:pt x="135168" y="783158"/>
                    <a:pt x="82405" y="730395"/>
                  </a:cubicBezTo>
                  <a:cubicBezTo>
                    <a:pt x="29642" y="677632"/>
                    <a:pt x="0" y="606070"/>
                    <a:pt x="0" y="531451"/>
                  </a:cubicBezTo>
                  <a:lnTo>
                    <a:pt x="0" y="281349"/>
                  </a:lnTo>
                  <a:cubicBezTo>
                    <a:pt x="0" y="206730"/>
                    <a:pt x="29642" y="135168"/>
                    <a:pt x="82405" y="82405"/>
                  </a:cubicBezTo>
                  <a:cubicBezTo>
                    <a:pt x="135168" y="29642"/>
                    <a:pt x="206730" y="0"/>
                    <a:pt x="281349" y="0"/>
                  </a:cubicBezTo>
                  <a:close/>
                </a:path>
              </a:pathLst>
            </a:custGeom>
            <a:blipFill>
              <a:blip r:embed="rId4"/>
              <a:stretch>
                <a:fillRect l="-24906" r="-24906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674951" y="3584284"/>
            <a:ext cx="1809796" cy="180979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5223" y="0"/>
                  </a:moveTo>
                  <a:lnTo>
                    <a:pt x="547577" y="0"/>
                  </a:lnTo>
                  <a:cubicBezTo>
                    <a:pt x="617919" y="0"/>
                    <a:pt x="685379" y="27943"/>
                    <a:pt x="735118" y="77682"/>
                  </a:cubicBezTo>
                  <a:cubicBezTo>
                    <a:pt x="784857" y="127421"/>
                    <a:pt x="812800" y="194881"/>
                    <a:pt x="812800" y="265223"/>
                  </a:cubicBezTo>
                  <a:lnTo>
                    <a:pt x="812800" y="547577"/>
                  </a:lnTo>
                  <a:cubicBezTo>
                    <a:pt x="812800" y="617919"/>
                    <a:pt x="784857" y="685379"/>
                    <a:pt x="735118" y="735118"/>
                  </a:cubicBezTo>
                  <a:cubicBezTo>
                    <a:pt x="685379" y="784857"/>
                    <a:pt x="617919" y="812800"/>
                    <a:pt x="547577" y="812800"/>
                  </a:cubicBezTo>
                  <a:lnTo>
                    <a:pt x="265223" y="812800"/>
                  </a:lnTo>
                  <a:cubicBezTo>
                    <a:pt x="194881" y="812800"/>
                    <a:pt x="127421" y="784857"/>
                    <a:pt x="77682" y="735118"/>
                  </a:cubicBezTo>
                  <a:cubicBezTo>
                    <a:pt x="27943" y="685379"/>
                    <a:pt x="0" y="617919"/>
                    <a:pt x="0" y="547577"/>
                  </a:cubicBezTo>
                  <a:lnTo>
                    <a:pt x="0" y="265223"/>
                  </a:lnTo>
                  <a:cubicBezTo>
                    <a:pt x="0" y="194881"/>
                    <a:pt x="27943" y="127421"/>
                    <a:pt x="77682" y="77682"/>
                  </a:cubicBezTo>
                  <a:cubicBezTo>
                    <a:pt x="127421" y="27943"/>
                    <a:pt x="194881" y="0"/>
                    <a:pt x="265223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4716" y="456541"/>
            <a:ext cx="5830494" cy="837476"/>
            <a:chOff x="0" y="0"/>
            <a:chExt cx="7773992" cy="111663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058178" cy="1116635"/>
              <a:chOff x="0" y="0"/>
              <a:chExt cx="770249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7024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0249" h="812800">
                    <a:moveTo>
                      <a:pt x="385125" y="0"/>
                    </a:moveTo>
                    <a:cubicBezTo>
                      <a:pt x="172426" y="0"/>
                      <a:pt x="0" y="181951"/>
                      <a:pt x="0" y="406400"/>
                    </a:cubicBezTo>
                    <a:cubicBezTo>
                      <a:pt x="0" y="630849"/>
                      <a:pt x="172426" y="812800"/>
                      <a:pt x="385125" y="812800"/>
                    </a:cubicBezTo>
                    <a:cubicBezTo>
                      <a:pt x="597823" y="812800"/>
                      <a:pt x="770249" y="630849"/>
                      <a:pt x="770249" y="406400"/>
                    </a:cubicBezTo>
                    <a:cubicBezTo>
                      <a:pt x="770249" y="181951"/>
                      <a:pt x="597823" y="0"/>
                      <a:pt x="385125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2211" y="28575"/>
                <a:ext cx="625827" cy="708025"/>
              </a:xfrm>
              <a:prstGeom prst="rect">
                <a:avLst/>
              </a:prstGeom>
            </p:spPr>
            <p:txBody>
              <a:bodyPr lIns="37479" tIns="37479" rIns="37479" bIns="37479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282243" y="128634"/>
              <a:ext cx="6491748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Lý do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chọn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đề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tài</a:t>
              </a:r>
              <a:endParaRPr lang="en-US" sz="3999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1798" y="289421"/>
              <a:ext cx="774581" cy="490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22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1.1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5227" y="5136892"/>
            <a:ext cx="1706064" cy="170606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81349" y="0"/>
                  </a:moveTo>
                  <a:lnTo>
                    <a:pt x="531451" y="0"/>
                  </a:lnTo>
                  <a:cubicBezTo>
                    <a:pt x="606070" y="0"/>
                    <a:pt x="677632" y="29642"/>
                    <a:pt x="730395" y="82405"/>
                  </a:cubicBezTo>
                  <a:cubicBezTo>
                    <a:pt x="783158" y="135168"/>
                    <a:pt x="812800" y="206730"/>
                    <a:pt x="812800" y="281349"/>
                  </a:cubicBezTo>
                  <a:lnTo>
                    <a:pt x="812800" y="531451"/>
                  </a:lnTo>
                  <a:cubicBezTo>
                    <a:pt x="812800" y="606070"/>
                    <a:pt x="783158" y="677632"/>
                    <a:pt x="730395" y="730395"/>
                  </a:cubicBezTo>
                  <a:cubicBezTo>
                    <a:pt x="677632" y="783158"/>
                    <a:pt x="606070" y="812800"/>
                    <a:pt x="531451" y="812800"/>
                  </a:cubicBezTo>
                  <a:lnTo>
                    <a:pt x="281349" y="812800"/>
                  </a:lnTo>
                  <a:cubicBezTo>
                    <a:pt x="206730" y="812800"/>
                    <a:pt x="135168" y="783158"/>
                    <a:pt x="82405" y="730395"/>
                  </a:cubicBezTo>
                  <a:cubicBezTo>
                    <a:pt x="29642" y="677632"/>
                    <a:pt x="0" y="606070"/>
                    <a:pt x="0" y="531451"/>
                  </a:cubicBezTo>
                  <a:lnTo>
                    <a:pt x="0" y="281349"/>
                  </a:lnTo>
                  <a:cubicBezTo>
                    <a:pt x="0" y="206730"/>
                    <a:pt x="29642" y="135168"/>
                    <a:pt x="82405" y="82405"/>
                  </a:cubicBezTo>
                  <a:cubicBezTo>
                    <a:pt x="135168" y="29642"/>
                    <a:pt x="206730" y="0"/>
                    <a:pt x="281349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74951" y="5803655"/>
            <a:ext cx="1809796" cy="1809796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5223" y="0"/>
                  </a:moveTo>
                  <a:lnTo>
                    <a:pt x="547577" y="0"/>
                  </a:lnTo>
                  <a:cubicBezTo>
                    <a:pt x="617919" y="0"/>
                    <a:pt x="685379" y="27943"/>
                    <a:pt x="735118" y="77682"/>
                  </a:cubicBezTo>
                  <a:cubicBezTo>
                    <a:pt x="784857" y="127421"/>
                    <a:pt x="812800" y="194881"/>
                    <a:pt x="812800" y="265223"/>
                  </a:cubicBezTo>
                  <a:lnTo>
                    <a:pt x="812800" y="547577"/>
                  </a:lnTo>
                  <a:cubicBezTo>
                    <a:pt x="812800" y="617919"/>
                    <a:pt x="784857" y="685379"/>
                    <a:pt x="735118" y="735118"/>
                  </a:cubicBezTo>
                  <a:cubicBezTo>
                    <a:pt x="685379" y="784857"/>
                    <a:pt x="617919" y="812800"/>
                    <a:pt x="547577" y="812800"/>
                  </a:cubicBezTo>
                  <a:lnTo>
                    <a:pt x="265223" y="812800"/>
                  </a:lnTo>
                  <a:cubicBezTo>
                    <a:pt x="194881" y="812800"/>
                    <a:pt x="127421" y="784857"/>
                    <a:pt x="77682" y="735118"/>
                  </a:cubicBezTo>
                  <a:cubicBezTo>
                    <a:pt x="27943" y="685379"/>
                    <a:pt x="0" y="617919"/>
                    <a:pt x="0" y="547577"/>
                  </a:cubicBezTo>
                  <a:lnTo>
                    <a:pt x="0" y="265223"/>
                  </a:lnTo>
                  <a:cubicBezTo>
                    <a:pt x="0" y="194881"/>
                    <a:pt x="27943" y="127421"/>
                    <a:pt x="77682" y="77682"/>
                  </a:cubicBezTo>
                  <a:cubicBezTo>
                    <a:pt x="127421" y="27943"/>
                    <a:pt x="194881" y="0"/>
                    <a:pt x="265223" y="0"/>
                  </a:cubicBezTo>
                  <a:close/>
                </a:path>
              </a:pathLst>
            </a:custGeom>
            <a:blipFill>
              <a:blip r:embed="rId7"/>
              <a:stretch>
                <a:fillRect l="-38888" r="-38888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159069" y="1579949"/>
            <a:ext cx="4982921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500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Vấn đề thực tế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59069" y="2212409"/>
            <a:ext cx="12729737" cy="307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vi-VN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Hoạt động chăm sóc k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hách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hàng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nhắn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nhiều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kênh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: Facebook,  Instagram, Telegram,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Zalo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website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riêng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Doanh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nghiệp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vi-VN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vừa và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nhỏ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khó</a:t>
            </a:r>
            <a:r>
              <a:rPr lang="vi-VN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để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theo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dõi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hội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thoại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vi-VN" sz="3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bỏ lỡ tin nhắn</a:t>
            </a:r>
            <a:r>
              <a:rPr lang="en-US" sz="3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hồi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kịp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thời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Thiếu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tập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trung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để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tư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vấn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khách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hàng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chính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xác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87408" y="5822705"/>
            <a:ext cx="3892647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500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Hướng giải quyết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87408" y="6464368"/>
            <a:ext cx="12564067" cy="307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Xây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dựng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một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ứng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dụng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tập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trung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hội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thoại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đa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kênh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Tích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hợp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AI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tự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động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trả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lời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dựa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trên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phẩm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chính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sách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lịch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sử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hội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thoại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của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từng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doanh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nghiệp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AI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cũng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gợi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ý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hồi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tóm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tắt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nội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dung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trao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đổi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hỗ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trợ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ra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quyết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định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1995" y="536724"/>
            <a:ext cx="5830494" cy="837476"/>
            <a:chOff x="0" y="0"/>
            <a:chExt cx="7773992" cy="111663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058178" cy="1116635"/>
              <a:chOff x="0" y="0"/>
              <a:chExt cx="770249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7024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0249" h="812800">
                    <a:moveTo>
                      <a:pt x="385125" y="0"/>
                    </a:moveTo>
                    <a:cubicBezTo>
                      <a:pt x="172426" y="0"/>
                      <a:pt x="0" y="181951"/>
                      <a:pt x="0" y="406400"/>
                    </a:cubicBezTo>
                    <a:cubicBezTo>
                      <a:pt x="0" y="630849"/>
                      <a:pt x="172426" y="812800"/>
                      <a:pt x="385125" y="812800"/>
                    </a:cubicBezTo>
                    <a:cubicBezTo>
                      <a:pt x="597823" y="812800"/>
                      <a:pt x="770249" y="630849"/>
                      <a:pt x="770249" y="406400"/>
                    </a:cubicBezTo>
                    <a:cubicBezTo>
                      <a:pt x="770249" y="181951"/>
                      <a:pt x="597823" y="0"/>
                      <a:pt x="385125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2211" y="28575"/>
                <a:ext cx="625827" cy="708025"/>
              </a:xfrm>
              <a:prstGeom prst="rect">
                <a:avLst/>
              </a:prstGeom>
            </p:spPr>
            <p:txBody>
              <a:bodyPr lIns="37479" tIns="37479" rIns="37479" bIns="37479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282243" y="128634"/>
              <a:ext cx="6491748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Mục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tiêu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của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đề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tài</a:t>
              </a:r>
              <a:endParaRPr lang="en-US" sz="3999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1798" y="289421"/>
              <a:ext cx="774581" cy="490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22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1.2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01539" y="1728901"/>
            <a:ext cx="16381719" cy="7640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Xây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dựng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hệ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thống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CRM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ChatDesk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phục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vụ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tin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nhắn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khách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hàng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tập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trung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Hỗ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trợ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3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nhóm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người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dùng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trị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viên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hệ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thống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chủ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doanh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nghiệp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nhân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viên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CSKH.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Mỗi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nhóm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người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dùng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có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giao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diện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web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mobile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riêng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biệt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để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thuận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tiện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theo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dõi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khách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hàng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Kết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nối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nhiều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kênh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liên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lạc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: Facebook, Instagram, Telegram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widget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nhúng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website.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Triển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khai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chatbot AI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tự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động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trợ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lý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AI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nội</a:t>
            </a:r>
            <a:r>
              <a:rPr lang="en-US" sz="3500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00" b="1" dirty="0" err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bộ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dành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doanh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nghiệp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Ứng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dụng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hoạt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động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ổn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định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có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tính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thẩm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mỹ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dễ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dàng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sử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dụng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Không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sâu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tạo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đơn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hàng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thanh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toán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vận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chuyển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tích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hợp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ERP,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chỉ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tập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trung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bài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toán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CRM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hội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thoại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1995" y="536724"/>
            <a:ext cx="7009840" cy="837476"/>
            <a:chOff x="0" y="0"/>
            <a:chExt cx="9346453" cy="111663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058178" cy="1116635"/>
              <a:chOff x="0" y="0"/>
              <a:chExt cx="770249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7024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0249" h="812800">
                    <a:moveTo>
                      <a:pt x="385125" y="0"/>
                    </a:moveTo>
                    <a:cubicBezTo>
                      <a:pt x="172426" y="0"/>
                      <a:pt x="0" y="181951"/>
                      <a:pt x="0" y="406400"/>
                    </a:cubicBezTo>
                    <a:cubicBezTo>
                      <a:pt x="0" y="630849"/>
                      <a:pt x="172426" y="812800"/>
                      <a:pt x="385125" y="812800"/>
                    </a:cubicBezTo>
                    <a:cubicBezTo>
                      <a:pt x="597823" y="812800"/>
                      <a:pt x="770249" y="630849"/>
                      <a:pt x="770249" y="406400"/>
                    </a:cubicBezTo>
                    <a:cubicBezTo>
                      <a:pt x="770249" y="181951"/>
                      <a:pt x="597823" y="0"/>
                      <a:pt x="385125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2211" y="28575"/>
                <a:ext cx="625827" cy="708025"/>
              </a:xfrm>
              <a:prstGeom prst="rect">
                <a:avLst/>
              </a:prstGeom>
            </p:spPr>
            <p:txBody>
              <a:bodyPr lIns="37479" tIns="37479" rIns="37479" bIns="37479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282243" y="128634"/>
              <a:ext cx="8064210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Các công nghệ sử dụng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1798" y="289421"/>
              <a:ext cx="774581" cy="490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22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1.3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359861" y="2221642"/>
            <a:ext cx="11568278" cy="6579458"/>
          </a:xfrm>
          <a:custGeom>
            <a:avLst/>
            <a:gdLst/>
            <a:ahLst/>
            <a:cxnLst/>
            <a:rect l="l" t="t" r="r" b="b"/>
            <a:pathLst>
              <a:path w="11568278" h="6579458">
                <a:moveTo>
                  <a:pt x="0" y="0"/>
                </a:moveTo>
                <a:lnTo>
                  <a:pt x="11568278" y="0"/>
                </a:lnTo>
                <a:lnTo>
                  <a:pt x="11568278" y="6579458"/>
                </a:lnTo>
                <a:lnTo>
                  <a:pt x="0" y="6579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158211" y="8743950"/>
            <a:ext cx="597157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1" dirty="0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Công </a:t>
            </a:r>
            <a:r>
              <a:rPr lang="en-US" sz="3000" i="1" dirty="0" err="1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nghệ</a:t>
            </a:r>
            <a:r>
              <a:rPr lang="en-US" sz="3000" i="1" dirty="0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000" i="1" dirty="0" err="1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sử</a:t>
            </a:r>
            <a:r>
              <a:rPr lang="en-US" sz="3000" i="1" dirty="0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000" i="1" dirty="0" err="1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dụng</a:t>
            </a:r>
            <a:r>
              <a:rPr lang="en-US" sz="3000" i="1" dirty="0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000" i="1" dirty="0" err="1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trong</a:t>
            </a:r>
            <a:r>
              <a:rPr lang="en-US" sz="3000" i="1" dirty="0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000" i="1" dirty="0" err="1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hệ</a:t>
            </a:r>
            <a:r>
              <a:rPr lang="en-US" sz="3000" i="1" dirty="0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000" i="1" dirty="0" err="1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thống</a:t>
            </a:r>
            <a:endParaRPr lang="en-US" sz="3000" i="1" dirty="0">
              <a:solidFill>
                <a:srgbClr val="1F202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372" y="4153008"/>
            <a:ext cx="15655257" cy="1135122"/>
            <a:chOff x="0" y="0"/>
            <a:chExt cx="20873675" cy="151349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519526" cy="1513496"/>
              <a:chOff x="0" y="0"/>
              <a:chExt cx="816039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603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6039" h="812800">
                    <a:moveTo>
                      <a:pt x="408019" y="0"/>
                    </a:moveTo>
                    <a:cubicBezTo>
                      <a:pt x="182676" y="0"/>
                      <a:pt x="0" y="181951"/>
                      <a:pt x="0" y="406400"/>
                    </a:cubicBezTo>
                    <a:cubicBezTo>
                      <a:pt x="0" y="630849"/>
                      <a:pt x="182676" y="812800"/>
                      <a:pt x="408019" y="812800"/>
                    </a:cubicBezTo>
                    <a:cubicBezTo>
                      <a:pt x="633362" y="812800"/>
                      <a:pt x="816039" y="630849"/>
                      <a:pt x="816039" y="406400"/>
                    </a:cubicBezTo>
                    <a:cubicBezTo>
                      <a:pt x="816039" y="181951"/>
                      <a:pt x="633362" y="0"/>
                      <a:pt x="408019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504" y="28575"/>
                <a:ext cx="663031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873046" y="-114300"/>
              <a:ext cx="19000630" cy="1333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Phân tích thiết kế hệ thống ChatDesk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3620" y="399685"/>
              <a:ext cx="1112286" cy="666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20"/>
                </a:lnSpc>
                <a:spcBef>
                  <a:spcPct val="0"/>
                </a:spcBef>
              </a:pPr>
              <a:r>
                <a:rPr lang="en-US" sz="301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65626" y="5221455"/>
            <a:ext cx="13493567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Xác định tác nhân, use case, luồng xử lý, kiến trúc dữ liệu và vị trí RAG trong hệ thống ChatDesk.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1995" y="536724"/>
            <a:ext cx="5830494" cy="837476"/>
            <a:chOff x="0" y="0"/>
            <a:chExt cx="7773992" cy="111663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058178" cy="1116635"/>
              <a:chOff x="0" y="0"/>
              <a:chExt cx="770249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7024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0249" h="812800">
                    <a:moveTo>
                      <a:pt x="385125" y="0"/>
                    </a:moveTo>
                    <a:cubicBezTo>
                      <a:pt x="172426" y="0"/>
                      <a:pt x="0" y="181951"/>
                      <a:pt x="0" y="406400"/>
                    </a:cubicBezTo>
                    <a:cubicBezTo>
                      <a:pt x="0" y="630849"/>
                      <a:pt x="172426" y="812800"/>
                      <a:pt x="385125" y="812800"/>
                    </a:cubicBezTo>
                    <a:cubicBezTo>
                      <a:pt x="597823" y="812800"/>
                      <a:pt x="770249" y="630849"/>
                      <a:pt x="770249" y="406400"/>
                    </a:cubicBezTo>
                    <a:cubicBezTo>
                      <a:pt x="770249" y="181951"/>
                      <a:pt x="597823" y="0"/>
                      <a:pt x="385125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2211" y="28575"/>
                <a:ext cx="625827" cy="708025"/>
              </a:xfrm>
              <a:prstGeom prst="rect">
                <a:avLst/>
              </a:prstGeom>
            </p:spPr>
            <p:txBody>
              <a:bodyPr lIns="37479" tIns="37479" rIns="37479" bIns="37479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282243" y="128634"/>
              <a:ext cx="6491748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Usecase tổng quát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1798" y="289421"/>
              <a:ext cx="774581" cy="490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22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2.1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222416" y="1507167"/>
            <a:ext cx="11843169" cy="8014291"/>
          </a:xfrm>
          <a:custGeom>
            <a:avLst/>
            <a:gdLst/>
            <a:ahLst/>
            <a:cxnLst/>
            <a:rect l="l" t="t" r="r" b="b"/>
            <a:pathLst>
              <a:path w="11843169" h="8014291">
                <a:moveTo>
                  <a:pt x="0" y="0"/>
                </a:moveTo>
                <a:lnTo>
                  <a:pt x="11843168" y="0"/>
                </a:lnTo>
                <a:lnTo>
                  <a:pt x="11843168" y="8014291"/>
                </a:lnTo>
                <a:lnTo>
                  <a:pt x="0" y="8014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203429" y="9464308"/>
            <a:ext cx="44345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1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Biểu đồ usecase tổng quát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1995" y="536724"/>
            <a:ext cx="12210265" cy="837476"/>
            <a:chOff x="0" y="0"/>
            <a:chExt cx="16280353" cy="111663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058178" cy="1116635"/>
              <a:chOff x="0" y="0"/>
              <a:chExt cx="770249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7024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0249" h="812800">
                    <a:moveTo>
                      <a:pt x="385125" y="0"/>
                    </a:moveTo>
                    <a:cubicBezTo>
                      <a:pt x="172426" y="0"/>
                      <a:pt x="0" y="181951"/>
                      <a:pt x="0" y="406400"/>
                    </a:cubicBezTo>
                    <a:cubicBezTo>
                      <a:pt x="0" y="630849"/>
                      <a:pt x="172426" y="812800"/>
                      <a:pt x="385125" y="812800"/>
                    </a:cubicBezTo>
                    <a:cubicBezTo>
                      <a:pt x="597823" y="812800"/>
                      <a:pt x="770249" y="630849"/>
                      <a:pt x="770249" y="406400"/>
                    </a:cubicBezTo>
                    <a:cubicBezTo>
                      <a:pt x="770249" y="181951"/>
                      <a:pt x="597823" y="0"/>
                      <a:pt x="385125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2211" y="28575"/>
                <a:ext cx="625827" cy="708025"/>
              </a:xfrm>
              <a:prstGeom prst="rect">
                <a:avLst/>
              </a:prstGeom>
            </p:spPr>
            <p:txBody>
              <a:bodyPr lIns="37479" tIns="37479" rIns="37479" bIns="37479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282243" y="128634"/>
              <a:ext cx="14998110" cy="880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Sơ đồ kiến trúc tổng thể hệ thống ChatDesk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1798" y="289421"/>
              <a:ext cx="774581" cy="490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22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2.2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792231" y="1374199"/>
            <a:ext cx="14703538" cy="8037934"/>
          </a:xfrm>
          <a:custGeom>
            <a:avLst/>
            <a:gdLst/>
            <a:ahLst/>
            <a:cxnLst/>
            <a:rect l="l" t="t" r="r" b="b"/>
            <a:pathLst>
              <a:path w="14703538" h="8037934">
                <a:moveTo>
                  <a:pt x="0" y="0"/>
                </a:moveTo>
                <a:lnTo>
                  <a:pt x="14703538" y="0"/>
                </a:lnTo>
                <a:lnTo>
                  <a:pt x="14703538" y="8037934"/>
                </a:lnTo>
                <a:lnTo>
                  <a:pt x="0" y="8037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873068" y="9449688"/>
            <a:ext cx="654186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1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Biểu đồ tuần tự chức năng quét đơn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952B-DE1C-8726-5F26-FECF267F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E68769-CDE9-AE7D-FD66-409D05935CE7}"/>
              </a:ext>
            </a:extLst>
          </p:cNvPr>
          <p:cNvGrpSpPr/>
          <p:nvPr/>
        </p:nvGrpSpPr>
        <p:grpSpPr>
          <a:xfrm>
            <a:off x="721995" y="536724"/>
            <a:ext cx="12210265" cy="837476"/>
            <a:chOff x="0" y="0"/>
            <a:chExt cx="16280353" cy="1116635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FC10AB29-7295-EFEE-CDE7-1CD020473F40}"/>
                </a:ext>
              </a:extLst>
            </p:cNvPr>
            <p:cNvGrpSpPr/>
            <p:nvPr/>
          </p:nvGrpSpPr>
          <p:grpSpPr>
            <a:xfrm>
              <a:off x="0" y="0"/>
              <a:ext cx="1058178" cy="1116635"/>
              <a:chOff x="0" y="0"/>
              <a:chExt cx="770249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FED05912-0A55-4BEA-A0A4-14486881B964}"/>
                  </a:ext>
                </a:extLst>
              </p:cNvPr>
              <p:cNvSpPr/>
              <p:nvPr/>
            </p:nvSpPr>
            <p:spPr>
              <a:xfrm>
                <a:off x="0" y="0"/>
                <a:ext cx="77024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0249" h="812800">
                    <a:moveTo>
                      <a:pt x="385125" y="0"/>
                    </a:moveTo>
                    <a:cubicBezTo>
                      <a:pt x="172426" y="0"/>
                      <a:pt x="0" y="181951"/>
                      <a:pt x="0" y="406400"/>
                    </a:cubicBezTo>
                    <a:cubicBezTo>
                      <a:pt x="0" y="630849"/>
                      <a:pt x="172426" y="812800"/>
                      <a:pt x="385125" y="812800"/>
                    </a:cubicBezTo>
                    <a:cubicBezTo>
                      <a:pt x="597823" y="812800"/>
                      <a:pt x="770249" y="630849"/>
                      <a:pt x="770249" y="406400"/>
                    </a:cubicBezTo>
                    <a:cubicBezTo>
                      <a:pt x="770249" y="181951"/>
                      <a:pt x="597823" y="0"/>
                      <a:pt x="385125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9ED40888-4AEA-D0D2-7A7F-9FF01D0E385F}"/>
                  </a:ext>
                </a:extLst>
              </p:cNvPr>
              <p:cNvSpPr txBox="1"/>
              <p:nvPr/>
            </p:nvSpPr>
            <p:spPr>
              <a:xfrm>
                <a:off x="72211" y="28575"/>
                <a:ext cx="625827" cy="708025"/>
              </a:xfrm>
              <a:prstGeom prst="rect">
                <a:avLst/>
              </a:prstGeom>
            </p:spPr>
            <p:txBody>
              <a:bodyPr lIns="37479" tIns="37479" rIns="37479" bIns="37479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A648900-8632-FAF0-72B1-61606CB1DA47}"/>
                </a:ext>
              </a:extLst>
            </p:cNvPr>
            <p:cNvSpPr txBox="1"/>
            <p:nvPr/>
          </p:nvSpPr>
          <p:spPr>
            <a:xfrm>
              <a:off x="1282243" y="128633"/>
              <a:ext cx="14998110" cy="89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vi-VN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Luồng RAG</a:t>
              </a:r>
              <a:endParaRPr lang="en-US" sz="3999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9D35B1F-B550-45C5-88B0-C07CE32A57A5}"/>
                </a:ext>
              </a:extLst>
            </p:cNvPr>
            <p:cNvSpPr txBox="1"/>
            <p:nvPr/>
          </p:nvSpPr>
          <p:spPr>
            <a:xfrm>
              <a:off x="141799" y="289421"/>
              <a:ext cx="774581" cy="495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224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2.</a:t>
              </a:r>
              <a:r>
                <a:rPr lang="vi-VN" sz="2224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  <a:endParaRPr lang="en-US" sz="2224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DB6EDF77-49BB-31B0-D56D-3192408A580F}"/>
              </a:ext>
            </a:extLst>
          </p:cNvPr>
          <p:cNvSpPr txBox="1"/>
          <p:nvPr/>
        </p:nvSpPr>
        <p:spPr>
          <a:xfrm>
            <a:off x="8041934" y="9528245"/>
            <a:ext cx="2204132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vi-VN" sz="3000" i="1" dirty="0">
                <a:solidFill>
                  <a:srgbClr val="1F202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RAG pipeline</a:t>
            </a:r>
            <a:endParaRPr lang="en-US" sz="3000" i="1" dirty="0">
              <a:solidFill>
                <a:srgbClr val="1F202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D036C7-A125-2C31-5BB4-E58D25FCE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379" y="1295687"/>
            <a:ext cx="14597241" cy="821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334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162622" y="-805440"/>
            <a:ext cx="12223860" cy="12154518"/>
            <a:chOff x="0" y="0"/>
            <a:chExt cx="3219453" cy="32011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19453" cy="3201190"/>
            </a:xfrm>
            <a:custGeom>
              <a:avLst/>
              <a:gdLst/>
              <a:ahLst/>
              <a:cxnLst/>
              <a:rect l="l" t="t" r="r" b="b"/>
              <a:pathLst>
                <a:path w="3219453" h="3201190">
                  <a:moveTo>
                    <a:pt x="0" y="0"/>
                  </a:moveTo>
                  <a:lnTo>
                    <a:pt x="3219453" y="0"/>
                  </a:lnTo>
                  <a:lnTo>
                    <a:pt x="3219453" y="3201190"/>
                  </a:lnTo>
                  <a:lnTo>
                    <a:pt x="0" y="3201190"/>
                  </a:ln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219453" cy="3239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223260" y="1844576"/>
            <a:ext cx="3334483" cy="6597848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38" r="-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3808628" y="1844576"/>
            <a:ext cx="3334483" cy="6597848"/>
            <a:chOff x="0" y="0"/>
            <a:chExt cx="2620010" cy="518414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38" r="-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7393997" y="1844576"/>
            <a:ext cx="3334483" cy="6597848"/>
            <a:chOff x="0" y="0"/>
            <a:chExt cx="2620010" cy="5184140"/>
          </a:xfrm>
        </p:grpSpPr>
        <p:sp>
          <p:nvSpPr>
            <p:cNvPr id="35" name="Freeform 3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8" r="-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520229" y="4470746"/>
            <a:ext cx="8252837" cy="8252837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898530" y="5176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1826874" y="1303363"/>
            <a:ext cx="5664925" cy="1981200"/>
            <a:chOff x="0" y="0"/>
            <a:chExt cx="7553234" cy="2641600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1519526" cy="1513496"/>
              <a:chOff x="0" y="0"/>
              <a:chExt cx="816039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603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6039" h="812800">
                    <a:moveTo>
                      <a:pt x="408019" y="0"/>
                    </a:moveTo>
                    <a:cubicBezTo>
                      <a:pt x="182676" y="0"/>
                      <a:pt x="0" y="181951"/>
                      <a:pt x="0" y="406400"/>
                    </a:cubicBezTo>
                    <a:cubicBezTo>
                      <a:pt x="0" y="630849"/>
                      <a:pt x="182676" y="812800"/>
                      <a:pt x="408019" y="812800"/>
                    </a:cubicBezTo>
                    <a:cubicBezTo>
                      <a:pt x="633362" y="812800"/>
                      <a:pt x="816039" y="630849"/>
                      <a:pt x="816039" y="406400"/>
                    </a:cubicBezTo>
                    <a:cubicBezTo>
                      <a:pt x="816039" y="181951"/>
                      <a:pt x="633362" y="0"/>
                      <a:pt x="408019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504" y="28575"/>
                <a:ext cx="663031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1873046" y="-114300"/>
              <a:ext cx="5680188" cy="2755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6000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Demo </a:t>
              </a:r>
            </a:p>
            <a:p>
              <a:pPr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sản phẩm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03620" y="399685"/>
              <a:ext cx="1112286" cy="666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20"/>
                </a:lnSpc>
                <a:spcBef>
                  <a:spcPct val="0"/>
                </a:spcBef>
              </a:pPr>
              <a:r>
                <a:rPr lang="en-US" sz="301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0584" y="4153008"/>
            <a:ext cx="13286833" cy="1135122"/>
            <a:chOff x="0" y="0"/>
            <a:chExt cx="17715777" cy="151349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519526" cy="1513496"/>
              <a:chOff x="0" y="0"/>
              <a:chExt cx="816039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603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6039" h="812800">
                    <a:moveTo>
                      <a:pt x="408019" y="0"/>
                    </a:moveTo>
                    <a:cubicBezTo>
                      <a:pt x="182676" y="0"/>
                      <a:pt x="0" y="181951"/>
                      <a:pt x="0" y="406400"/>
                    </a:cubicBezTo>
                    <a:cubicBezTo>
                      <a:pt x="0" y="630849"/>
                      <a:pt x="182676" y="812800"/>
                      <a:pt x="408019" y="812800"/>
                    </a:cubicBezTo>
                    <a:cubicBezTo>
                      <a:pt x="633362" y="812800"/>
                      <a:pt x="816039" y="630849"/>
                      <a:pt x="816039" y="406400"/>
                    </a:cubicBezTo>
                    <a:cubicBezTo>
                      <a:pt x="816039" y="181951"/>
                      <a:pt x="633362" y="0"/>
                      <a:pt x="408019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504" y="28575"/>
                <a:ext cx="663031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873046" y="-114300"/>
              <a:ext cx="15842731" cy="1333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Kết quả và kết luận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3620" y="399685"/>
              <a:ext cx="1112286" cy="666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20"/>
                </a:lnSpc>
                <a:spcBef>
                  <a:spcPct val="0"/>
                </a:spcBef>
              </a:pPr>
              <a:r>
                <a:rPr lang="en-US" sz="301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913952" y="5221455"/>
            <a:ext cx="12704092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Đánh giá mức độ hiệu quả của Chatbot AI, kết quả sản phẩm đạt được, hạn chế tồn động, hướng phát triển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515A253-4A82-3394-3E6D-2B145DB20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388113"/>
              </p:ext>
            </p:extLst>
          </p:nvPr>
        </p:nvGraphicFramePr>
        <p:xfrm>
          <a:off x="1118811" y="1561823"/>
          <a:ext cx="16535400" cy="8071851"/>
        </p:xfrm>
        <a:graphic>
          <a:graphicData uri="http://schemas.openxmlformats.org/drawingml/2006/table">
            <a:tbl>
              <a:tblPr/>
              <a:tblGrid>
                <a:gridCol w="2995989">
                  <a:extLst>
                    <a:ext uri="{9D8B030D-6E8A-4147-A177-3AD203B41FA5}">
                      <a16:colId xmlns:a16="http://schemas.microsoft.com/office/drawing/2014/main" val="2353130743"/>
                    </a:ext>
                  </a:extLst>
                </a:gridCol>
                <a:gridCol w="1266470">
                  <a:extLst>
                    <a:ext uri="{9D8B030D-6E8A-4147-A177-3AD203B41FA5}">
                      <a16:colId xmlns:a16="http://schemas.microsoft.com/office/drawing/2014/main" val="1567234016"/>
                    </a:ext>
                  </a:extLst>
                </a:gridCol>
                <a:gridCol w="1400530">
                  <a:extLst>
                    <a:ext uri="{9D8B030D-6E8A-4147-A177-3AD203B41FA5}">
                      <a16:colId xmlns:a16="http://schemas.microsoft.com/office/drawing/2014/main" val="183314635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28304581"/>
                    </a:ext>
                  </a:extLst>
                </a:gridCol>
                <a:gridCol w="9272211">
                  <a:extLst>
                    <a:ext uri="{9D8B030D-6E8A-4147-A177-3AD203B41FA5}">
                      <a16:colId xmlns:a16="http://schemas.microsoft.com/office/drawing/2014/main" val="1388737250"/>
                    </a:ext>
                  </a:extLst>
                </a:gridCol>
              </a:tblGrid>
              <a:tr h="174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 err="1">
                          <a:effectLst/>
                        </a:rPr>
                        <a:t>Tiêu</a:t>
                      </a:r>
                      <a:r>
                        <a:rPr lang="en-US" sz="2700" b="1" dirty="0">
                          <a:effectLst/>
                        </a:rPr>
                        <a:t> </a:t>
                      </a:r>
                      <a:r>
                        <a:rPr lang="en-US" sz="2700" b="1" dirty="0" err="1">
                          <a:effectLst/>
                        </a:rPr>
                        <a:t>chí</a:t>
                      </a:r>
                      <a:endParaRPr lang="en-US" sz="2700" b="1" dirty="0">
                        <a:effectLst/>
                      </a:endParaRP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 err="1">
                          <a:effectLst/>
                        </a:rPr>
                        <a:t>Số</a:t>
                      </a:r>
                      <a:r>
                        <a:rPr lang="en-US" sz="2700" b="1" dirty="0">
                          <a:effectLst/>
                        </a:rPr>
                        <a:t> </a:t>
                      </a:r>
                      <a:r>
                        <a:rPr lang="en-US" sz="2700" b="1" dirty="0" err="1">
                          <a:effectLst/>
                        </a:rPr>
                        <a:t>lượt</a:t>
                      </a:r>
                      <a:endParaRPr lang="en-US" sz="2700" b="1" dirty="0">
                        <a:effectLst/>
                      </a:endParaRP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 err="1">
                          <a:effectLst/>
                        </a:rPr>
                        <a:t>Điểm</a:t>
                      </a:r>
                      <a:r>
                        <a:rPr lang="en-US" sz="2700" b="1" dirty="0">
                          <a:effectLst/>
                        </a:rPr>
                        <a:t> TB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>
                          <a:effectLst/>
                        </a:rPr>
                        <a:t>Đạt &gt;=4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dirty="0" err="1">
                          <a:effectLst/>
                        </a:rPr>
                        <a:t>Nhận</a:t>
                      </a:r>
                      <a:r>
                        <a:rPr lang="en-US" sz="2700" b="1" dirty="0">
                          <a:effectLst/>
                        </a:rPr>
                        <a:t> </a:t>
                      </a:r>
                      <a:r>
                        <a:rPr lang="en-US" sz="2700" b="1" dirty="0" err="1">
                          <a:effectLst/>
                        </a:rPr>
                        <a:t>xét</a:t>
                      </a:r>
                      <a:r>
                        <a:rPr lang="en-US" sz="2700" b="1" dirty="0">
                          <a:effectLst/>
                        </a:rPr>
                        <a:t> 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830438"/>
                  </a:ext>
                </a:extLst>
              </a:tr>
              <a:tr h="804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Độ đúng dữ liệu sản phẩm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 dirty="0">
                          <a:effectLst/>
                        </a:rPr>
                        <a:t>78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4,</a:t>
                      </a:r>
                      <a:r>
                        <a:rPr lang="en-US" sz="2700" dirty="0">
                          <a:effectLst/>
                        </a:rPr>
                        <a:t>18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86,</a:t>
                      </a:r>
                      <a:r>
                        <a:rPr lang="en-US" sz="2700" dirty="0">
                          <a:effectLst/>
                        </a:rPr>
                        <a:t>0%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Khi khách nêu rõ sản phẩm, dung lượng và màu, AI trả lời giá/tồn kho khá chính xác. Một số câu còn thiếu nhắc lại tồn kho.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824548"/>
                  </a:ext>
                </a:extLst>
              </a:tr>
              <a:tr h="632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Chính sách bán hàng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effectLst/>
                        </a:rPr>
                        <a:t>42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4,</a:t>
                      </a:r>
                      <a:r>
                        <a:rPr lang="en-US" sz="2700" dirty="0">
                          <a:effectLst/>
                        </a:rPr>
                        <a:t>41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92,</a:t>
                      </a:r>
                      <a:r>
                        <a:rPr lang="en-US" sz="2700" dirty="0">
                          <a:effectLst/>
                        </a:rPr>
                        <a:t>9%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Các câu hỏi về giao hàng, COD, bảo hành, đổi trả được trả lời ổn định và ít bịa thêm chính sách.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80010"/>
                  </a:ext>
                </a:extLst>
              </a:tr>
              <a:tr h="718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Hiểu ý định khách hàng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 dirty="0">
                          <a:effectLst/>
                        </a:rPr>
                        <a:t>48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4,</a:t>
                      </a:r>
                      <a:r>
                        <a:rPr lang="en-US" sz="2700" dirty="0">
                          <a:effectLst/>
                        </a:rPr>
                        <a:t>12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85,</a:t>
                      </a:r>
                      <a:r>
                        <a:rPr lang="en-US" sz="2700" dirty="0">
                          <a:effectLst/>
                        </a:rPr>
                        <a:t>4%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AI phân biệt được hỏi giá, đặt hàng, tư vấn và khiếu nại. Với câu quá ngắn thì đôi lúc chưa hỏi lại đủ rõ.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751193"/>
                  </a:ext>
                </a:extLst>
              </a:tr>
              <a:tr h="718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Nhất quán facts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effectLst/>
                        </a:rPr>
                        <a:t>45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4,</a:t>
                      </a:r>
                      <a:r>
                        <a:rPr lang="en-US" sz="2700" dirty="0">
                          <a:effectLst/>
                        </a:rPr>
                        <a:t>02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82,</a:t>
                      </a:r>
                      <a:r>
                        <a:rPr lang="en-US" sz="2700" dirty="0">
                          <a:effectLst/>
                        </a:rPr>
                        <a:t>2%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effectLst/>
                        </a:rPr>
                        <a:t>Khi </a:t>
                      </a:r>
                      <a:r>
                        <a:rPr lang="en-US" sz="2700" dirty="0" err="1">
                          <a:effectLst/>
                        </a:rPr>
                        <a:t>hỏi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cùng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một</a:t>
                      </a:r>
                      <a:r>
                        <a:rPr lang="en-US" sz="2700" dirty="0">
                          <a:effectLst/>
                        </a:rPr>
                        <a:t> ý </a:t>
                      </a:r>
                      <a:r>
                        <a:rPr lang="en-US" sz="2700" dirty="0" err="1">
                          <a:effectLst/>
                        </a:rPr>
                        <a:t>bằng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nhiều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cách</a:t>
                      </a:r>
                      <a:r>
                        <a:rPr lang="en-US" sz="2700" dirty="0">
                          <a:effectLst/>
                        </a:rPr>
                        <a:t>, </a:t>
                      </a:r>
                      <a:r>
                        <a:rPr lang="en-US" sz="2700" dirty="0" err="1">
                          <a:effectLst/>
                        </a:rPr>
                        <a:t>kết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quả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nhìn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chung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giống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nhau</a:t>
                      </a:r>
                      <a:r>
                        <a:rPr lang="en-US" sz="2700" dirty="0">
                          <a:effectLst/>
                        </a:rPr>
                        <a:t>, </a:t>
                      </a:r>
                      <a:r>
                        <a:rPr lang="en-US" sz="2700" dirty="0" err="1">
                          <a:effectLst/>
                        </a:rPr>
                        <a:t>nhưng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câu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viết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tắt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nhiều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vẫn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có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sai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khác</a:t>
                      </a:r>
                      <a:r>
                        <a:rPr lang="en-US" sz="2700" dirty="0">
                          <a:effectLst/>
                        </a:rPr>
                        <a:t>.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472462"/>
                  </a:ext>
                </a:extLst>
              </a:tr>
              <a:tr h="545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Bám ngữ cảnh hội thoại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effectLst/>
                        </a:rPr>
                        <a:t>42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4,</a:t>
                      </a:r>
                      <a:r>
                        <a:rPr lang="en-US" sz="2700" dirty="0">
                          <a:effectLst/>
                        </a:rPr>
                        <a:t>41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92,</a:t>
                      </a:r>
                      <a:r>
                        <a:rPr lang="en-US" sz="2700" dirty="0">
                          <a:effectLst/>
                        </a:rPr>
                        <a:t>9%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>
                          <a:effectLst/>
                        </a:rPr>
                        <a:t>Bám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khá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tốt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ngữ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cảnh</a:t>
                      </a:r>
                      <a:r>
                        <a:rPr lang="en-US" sz="2700" dirty="0">
                          <a:effectLst/>
                        </a:rPr>
                        <a:t>. </a:t>
                      </a:r>
                      <a:r>
                        <a:rPr lang="en-US" sz="2700" dirty="0" err="1">
                          <a:effectLst/>
                        </a:rPr>
                        <a:t>Thỉnh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thoảng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không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hiểu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được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khi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khách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hàng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đã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đổi</a:t>
                      </a:r>
                      <a:r>
                        <a:rPr lang="en-US" sz="2700" dirty="0">
                          <a:effectLst/>
                        </a:rPr>
                        <a:t> ý.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893383"/>
                  </a:ext>
                </a:extLst>
              </a:tr>
              <a:tr h="632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Xử lý dữ liệu thiếu, mơ hồ và xung đột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effectLst/>
                        </a:rPr>
                        <a:t>40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4,</a:t>
                      </a:r>
                      <a:r>
                        <a:rPr lang="en-US" sz="2700" dirty="0">
                          <a:effectLst/>
                        </a:rPr>
                        <a:t>41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92,</a:t>
                      </a:r>
                      <a:r>
                        <a:rPr lang="en-US" sz="2700" dirty="0">
                          <a:effectLst/>
                        </a:rPr>
                        <a:t>9%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>
                          <a:effectLst/>
                        </a:rPr>
                        <a:t>Xử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lý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được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dữ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liệu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mơ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hồ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mà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trước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đó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rõ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ràng</a:t>
                      </a:r>
                      <a:r>
                        <a:rPr lang="en-US" sz="2700" dirty="0">
                          <a:effectLst/>
                        </a:rPr>
                        <a:t>, </a:t>
                      </a:r>
                      <a:r>
                        <a:rPr lang="en-US" sz="2700" dirty="0" err="1">
                          <a:effectLst/>
                        </a:rPr>
                        <a:t>dữ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liệu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mơ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hồ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kèm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viết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tắt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thì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vẫn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có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sai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sót</a:t>
                      </a:r>
                      <a:r>
                        <a:rPr lang="en-US" sz="2700" dirty="0">
                          <a:effectLst/>
                        </a:rPr>
                        <a:t>.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257314"/>
                  </a:ext>
                </a:extLst>
              </a:tr>
              <a:tr h="632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Văn phong khách hàng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effectLst/>
                        </a:rPr>
                        <a:t>36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4,</a:t>
                      </a:r>
                      <a:r>
                        <a:rPr lang="en-US" sz="2700" dirty="0">
                          <a:effectLst/>
                        </a:rPr>
                        <a:t>36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91,</a:t>
                      </a:r>
                      <a:r>
                        <a:rPr lang="en-US" sz="2700" dirty="0">
                          <a:effectLst/>
                        </a:rPr>
                        <a:t>7%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>
                          <a:effectLst/>
                        </a:rPr>
                        <a:t>Câu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trả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lời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tiếng</a:t>
                      </a:r>
                      <a:r>
                        <a:rPr lang="en-US" sz="2700" dirty="0">
                          <a:effectLst/>
                        </a:rPr>
                        <a:t> Việt </a:t>
                      </a:r>
                      <a:r>
                        <a:rPr lang="en-US" sz="2700" dirty="0" err="1">
                          <a:effectLst/>
                        </a:rPr>
                        <a:t>tự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nhiên</a:t>
                      </a:r>
                      <a:r>
                        <a:rPr lang="en-US" sz="2700" dirty="0">
                          <a:effectLst/>
                        </a:rPr>
                        <a:t>, </a:t>
                      </a:r>
                      <a:r>
                        <a:rPr lang="en-US" sz="2700" dirty="0" err="1">
                          <a:effectLst/>
                        </a:rPr>
                        <a:t>lịch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sự</a:t>
                      </a:r>
                      <a:r>
                        <a:rPr lang="en-US" sz="2700" dirty="0">
                          <a:effectLst/>
                        </a:rPr>
                        <a:t>, </a:t>
                      </a:r>
                      <a:r>
                        <a:rPr lang="en-US" sz="2700" dirty="0" err="1">
                          <a:effectLst/>
                        </a:rPr>
                        <a:t>phù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hợp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bán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lẻ</a:t>
                      </a:r>
                      <a:r>
                        <a:rPr lang="en-US" sz="2700" dirty="0">
                          <a:effectLst/>
                        </a:rPr>
                        <a:t>. </a:t>
                      </a:r>
                      <a:r>
                        <a:rPr lang="en-US" sz="2700" dirty="0" err="1">
                          <a:effectLst/>
                        </a:rPr>
                        <a:t>Một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số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câu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đơn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giản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vẫn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trả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lời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hơi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dài</a:t>
                      </a:r>
                      <a:r>
                        <a:rPr lang="en-US" sz="2700" dirty="0">
                          <a:effectLst/>
                        </a:rPr>
                        <a:t>.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90568"/>
                  </a:ext>
                </a:extLst>
              </a:tr>
              <a:tr h="545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An toàn và tuân thủ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effectLst/>
                        </a:rPr>
                        <a:t>48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4,</a:t>
                      </a:r>
                      <a:r>
                        <a:rPr lang="en-US" sz="2700" dirty="0">
                          <a:effectLst/>
                        </a:rPr>
                        <a:t>54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95,</a:t>
                      </a:r>
                      <a:r>
                        <a:rPr lang="en-US" sz="2700" dirty="0">
                          <a:effectLst/>
                        </a:rPr>
                        <a:t>8%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effectLst/>
                        </a:rPr>
                        <a:t>AI xử lý tốt yêu cầu lấy API key, dữ liệu khách hàng hoặc prompt injection.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8436"/>
                  </a:ext>
                </a:extLst>
              </a:tr>
              <a:tr h="8907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>
                          <a:effectLst/>
                        </a:rPr>
                        <a:t>AI </a:t>
                      </a:r>
                      <a:r>
                        <a:rPr lang="en-US" sz="2700" dirty="0" err="1">
                          <a:effectLst/>
                        </a:rPr>
                        <a:t>trợ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lý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cho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nhân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viên</a:t>
                      </a:r>
                      <a:endParaRPr lang="en-US" sz="2700" dirty="0">
                        <a:effectLst/>
                      </a:endParaRP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effectLst/>
                        </a:rPr>
                        <a:t>90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4,</a:t>
                      </a:r>
                      <a:r>
                        <a:rPr lang="en-US" sz="2700" dirty="0">
                          <a:effectLst/>
                        </a:rPr>
                        <a:t>07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2700" dirty="0">
                          <a:effectLst/>
                        </a:rPr>
                        <a:t>84,</a:t>
                      </a:r>
                      <a:r>
                        <a:rPr lang="en-US" sz="2700" dirty="0">
                          <a:effectLst/>
                        </a:rPr>
                        <a:t>4%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>
                          <a:effectLst/>
                        </a:rPr>
                        <a:t>Phù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hợp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để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gợi</a:t>
                      </a:r>
                      <a:r>
                        <a:rPr lang="en-US" sz="2700" dirty="0">
                          <a:effectLst/>
                        </a:rPr>
                        <a:t> ý </a:t>
                      </a:r>
                      <a:r>
                        <a:rPr lang="en-US" sz="2700" dirty="0" err="1">
                          <a:effectLst/>
                        </a:rPr>
                        <a:t>câu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trả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lời</a:t>
                      </a:r>
                      <a:r>
                        <a:rPr lang="en-US" sz="2700" dirty="0">
                          <a:effectLst/>
                        </a:rPr>
                        <a:t>, </a:t>
                      </a:r>
                      <a:r>
                        <a:rPr lang="en-US" sz="2700" dirty="0" err="1">
                          <a:effectLst/>
                        </a:rPr>
                        <a:t>hỏi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đáp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hệ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thống</a:t>
                      </a:r>
                      <a:r>
                        <a:rPr lang="en-US" sz="2700" dirty="0">
                          <a:effectLst/>
                        </a:rPr>
                        <a:t>, </a:t>
                      </a:r>
                      <a:r>
                        <a:rPr lang="en-US" sz="2700" dirty="0" err="1">
                          <a:effectLst/>
                        </a:rPr>
                        <a:t>doanh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nghiệp</a:t>
                      </a:r>
                      <a:r>
                        <a:rPr lang="en-US" sz="2700" dirty="0">
                          <a:effectLst/>
                        </a:rPr>
                        <a:t>. </a:t>
                      </a:r>
                      <a:r>
                        <a:rPr lang="en-US" sz="2700" dirty="0" err="1">
                          <a:effectLst/>
                        </a:rPr>
                        <a:t>Nhưng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tóm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tắt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hội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thoại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vẫn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bị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nhầm</a:t>
                      </a:r>
                      <a:r>
                        <a:rPr lang="en-US" sz="2700" dirty="0">
                          <a:effectLst/>
                        </a:rPr>
                        <a:t> sang </a:t>
                      </a:r>
                      <a:r>
                        <a:rPr lang="en-US" sz="2700" dirty="0" err="1">
                          <a:effectLst/>
                        </a:rPr>
                        <a:t>hội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thoại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với</a:t>
                      </a:r>
                      <a:r>
                        <a:rPr lang="en-US" sz="2700" dirty="0">
                          <a:effectLst/>
                        </a:rPr>
                        <a:t> AI </a:t>
                      </a:r>
                      <a:r>
                        <a:rPr lang="en-US" sz="2700" dirty="0" err="1">
                          <a:effectLst/>
                        </a:rPr>
                        <a:t>nội</a:t>
                      </a:r>
                      <a:r>
                        <a:rPr lang="en-US" sz="2700" dirty="0">
                          <a:effectLst/>
                        </a:rPr>
                        <a:t> </a:t>
                      </a:r>
                      <a:r>
                        <a:rPr lang="en-US" sz="2700" dirty="0" err="1">
                          <a:effectLst/>
                        </a:rPr>
                        <a:t>bộ</a:t>
                      </a:r>
                      <a:r>
                        <a:rPr lang="en-US" sz="2700" dirty="0">
                          <a:effectLst/>
                        </a:rPr>
                        <a:t>.</a:t>
                      </a:r>
                    </a:p>
                  </a:txBody>
                  <a:tcPr marL="20660" marR="20660" marT="10330" marB="10330" anchor="ctr">
                    <a:lnL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743003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F47847D4-128F-D5CD-27A6-5BB3CEBF7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2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4" name="Group 3">
            <a:extLst>
              <a:ext uri="{FF2B5EF4-FFF2-40B4-BE49-F238E27FC236}">
                <a16:creationId xmlns:a16="http://schemas.microsoft.com/office/drawing/2014/main" id="{B3CC0962-EAD9-858B-DC0B-BDB5495AC54F}"/>
              </a:ext>
            </a:extLst>
          </p:cNvPr>
          <p:cNvGrpSpPr/>
          <p:nvPr/>
        </p:nvGrpSpPr>
        <p:grpSpPr>
          <a:xfrm>
            <a:off x="721995" y="536724"/>
            <a:ext cx="12358106" cy="837476"/>
            <a:chOff x="0" y="0"/>
            <a:chExt cx="16477475" cy="1116635"/>
          </a:xfrm>
        </p:grpSpPr>
        <p:grpSp>
          <p:nvGrpSpPr>
            <p:cNvPr id="15" name="Group 4">
              <a:extLst>
                <a:ext uri="{FF2B5EF4-FFF2-40B4-BE49-F238E27FC236}">
                  <a16:creationId xmlns:a16="http://schemas.microsoft.com/office/drawing/2014/main" id="{8BE5721A-E761-201B-8156-23629A9D318F}"/>
                </a:ext>
              </a:extLst>
            </p:cNvPr>
            <p:cNvGrpSpPr/>
            <p:nvPr/>
          </p:nvGrpSpPr>
          <p:grpSpPr>
            <a:xfrm>
              <a:off x="0" y="0"/>
              <a:ext cx="1058178" cy="1116635"/>
              <a:chOff x="0" y="0"/>
              <a:chExt cx="770249" cy="81280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7A744C0D-E102-42C0-3B18-371846ED1E5B}"/>
                  </a:ext>
                </a:extLst>
              </p:cNvPr>
              <p:cNvSpPr/>
              <p:nvPr/>
            </p:nvSpPr>
            <p:spPr>
              <a:xfrm>
                <a:off x="0" y="0"/>
                <a:ext cx="77024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0249" h="812800">
                    <a:moveTo>
                      <a:pt x="385125" y="0"/>
                    </a:moveTo>
                    <a:cubicBezTo>
                      <a:pt x="172426" y="0"/>
                      <a:pt x="0" y="181951"/>
                      <a:pt x="0" y="406400"/>
                    </a:cubicBezTo>
                    <a:cubicBezTo>
                      <a:pt x="0" y="630849"/>
                      <a:pt x="172426" y="812800"/>
                      <a:pt x="385125" y="812800"/>
                    </a:cubicBezTo>
                    <a:cubicBezTo>
                      <a:pt x="597823" y="812800"/>
                      <a:pt x="770249" y="630849"/>
                      <a:pt x="770249" y="406400"/>
                    </a:cubicBezTo>
                    <a:cubicBezTo>
                      <a:pt x="770249" y="181951"/>
                      <a:pt x="597823" y="0"/>
                      <a:pt x="385125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5440E745-A374-3CDA-D3AA-CA4B12D0F5E1}"/>
                  </a:ext>
                </a:extLst>
              </p:cNvPr>
              <p:cNvSpPr txBox="1"/>
              <p:nvPr/>
            </p:nvSpPr>
            <p:spPr>
              <a:xfrm>
                <a:off x="72211" y="28575"/>
                <a:ext cx="625827" cy="708025"/>
              </a:xfrm>
              <a:prstGeom prst="rect">
                <a:avLst/>
              </a:prstGeom>
            </p:spPr>
            <p:txBody>
              <a:bodyPr lIns="37479" tIns="37479" rIns="37479" bIns="37479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34C53188-2BE4-0731-52BC-80D1B5C62B18}"/>
                </a:ext>
              </a:extLst>
            </p:cNvPr>
            <p:cNvSpPr txBox="1"/>
            <p:nvPr/>
          </p:nvSpPr>
          <p:spPr>
            <a:xfrm>
              <a:off x="1282243" y="128633"/>
              <a:ext cx="15195232" cy="89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Đánh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giá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mức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độ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hiệu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quả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Chatbot AI</a:t>
              </a:r>
            </a:p>
          </p:txBody>
        </p:sp>
        <p:sp>
          <p:nvSpPr>
            <p:cNvPr id="17" name="TextBox 8">
              <a:extLst>
                <a:ext uri="{FF2B5EF4-FFF2-40B4-BE49-F238E27FC236}">
                  <a16:creationId xmlns:a16="http://schemas.microsoft.com/office/drawing/2014/main" id="{14F7F970-8317-73BB-F8AE-C49D4DE3BF01}"/>
                </a:ext>
              </a:extLst>
            </p:cNvPr>
            <p:cNvSpPr txBox="1"/>
            <p:nvPr/>
          </p:nvSpPr>
          <p:spPr>
            <a:xfrm>
              <a:off x="141798" y="289421"/>
              <a:ext cx="774581" cy="4929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224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4.</a:t>
              </a:r>
              <a:r>
                <a:rPr lang="vi-VN" sz="2224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  <a:endParaRPr lang="en-US" sz="2224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26193"/>
            <a:ext cx="807173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a. Kết quả đạt được: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1995" y="536724"/>
            <a:ext cx="12358106" cy="837476"/>
            <a:chOff x="0" y="0"/>
            <a:chExt cx="16477475" cy="111663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58178" cy="1116635"/>
              <a:chOff x="0" y="0"/>
              <a:chExt cx="770249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77024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0249" h="812800">
                    <a:moveTo>
                      <a:pt x="385125" y="0"/>
                    </a:moveTo>
                    <a:cubicBezTo>
                      <a:pt x="172426" y="0"/>
                      <a:pt x="0" y="181951"/>
                      <a:pt x="0" y="406400"/>
                    </a:cubicBezTo>
                    <a:cubicBezTo>
                      <a:pt x="0" y="630849"/>
                      <a:pt x="172426" y="812800"/>
                      <a:pt x="385125" y="812800"/>
                    </a:cubicBezTo>
                    <a:cubicBezTo>
                      <a:pt x="597823" y="812800"/>
                      <a:pt x="770249" y="630849"/>
                      <a:pt x="770249" y="406400"/>
                    </a:cubicBezTo>
                    <a:cubicBezTo>
                      <a:pt x="770249" y="181951"/>
                      <a:pt x="597823" y="0"/>
                      <a:pt x="385125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2211" y="28575"/>
                <a:ext cx="625827" cy="708025"/>
              </a:xfrm>
              <a:prstGeom prst="rect">
                <a:avLst/>
              </a:prstGeom>
            </p:spPr>
            <p:txBody>
              <a:bodyPr lIns="37479" tIns="37479" rIns="37479" bIns="37479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282243" y="128634"/>
              <a:ext cx="15195232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Kết</a:t>
              </a:r>
              <a:r>
                <a:rPr lang="en-US" sz="3999" b="1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3999" b="1" dirty="0" err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luận</a:t>
              </a:r>
              <a:endParaRPr lang="en-US" sz="3999" b="1" dirty="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1798" y="289421"/>
              <a:ext cx="774581" cy="4929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22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4.2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675087"/>
            <a:ext cx="16381719" cy="481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Xây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dựng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thành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công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hệ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thống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ChatDesk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gồm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web dashboard, mobile app, backend API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widget chat.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Hoàn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thiện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các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chức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năng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chính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xác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thực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kênh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hội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thoại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phẩm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nhân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viên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mẫu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trả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lời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phân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công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thống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kê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Tích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hợp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AI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tự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động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trả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lời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khách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hàng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trợ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AI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nội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bộ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cho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nhân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viên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RAG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đã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được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triển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khai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thực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tế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với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Milvus: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lưu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vector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phẩm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search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theo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business_id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lọc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score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đưa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context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prompt.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26193"/>
            <a:ext cx="807173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b. Hạn chế: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1995" y="536724"/>
            <a:ext cx="12358106" cy="837476"/>
            <a:chOff x="0" y="0"/>
            <a:chExt cx="16477475" cy="111663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58178" cy="1116635"/>
              <a:chOff x="0" y="0"/>
              <a:chExt cx="770249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77024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0249" h="812800">
                    <a:moveTo>
                      <a:pt x="385125" y="0"/>
                    </a:moveTo>
                    <a:cubicBezTo>
                      <a:pt x="172426" y="0"/>
                      <a:pt x="0" y="181951"/>
                      <a:pt x="0" y="406400"/>
                    </a:cubicBezTo>
                    <a:cubicBezTo>
                      <a:pt x="0" y="630849"/>
                      <a:pt x="172426" y="812800"/>
                      <a:pt x="385125" y="812800"/>
                    </a:cubicBezTo>
                    <a:cubicBezTo>
                      <a:pt x="597823" y="812800"/>
                      <a:pt x="770249" y="630849"/>
                      <a:pt x="770249" y="406400"/>
                    </a:cubicBezTo>
                    <a:cubicBezTo>
                      <a:pt x="770249" y="181951"/>
                      <a:pt x="597823" y="0"/>
                      <a:pt x="385125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2211" y="28575"/>
                <a:ext cx="625827" cy="708025"/>
              </a:xfrm>
              <a:prstGeom prst="rect">
                <a:avLst/>
              </a:prstGeom>
            </p:spPr>
            <p:txBody>
              <a:bodyPr lIns="37479" tIns="37479" rIns="37479" bIns="37479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282243" y="128634"/>
              <a:ext cx="15195232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Kết luận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1798" y="289421"/>
              <a:ext cx="774581" cy="490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22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4.2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675087"/>
            <a:ext cx="16381719" cy="497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Phụ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thuộc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vào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nền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tảng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quyền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truy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cập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bên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ngoài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Khả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năng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mở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rộng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còn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cần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được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hoàn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thiện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trong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môi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trường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tải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lớn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cần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bổ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sung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hàng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đợi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xử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webhook, retry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có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kiểm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soát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AI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vẫn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cần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cải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thiện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phản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hồi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escalation,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đặc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biệt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với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khiếu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nại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hoặc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yêu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cầu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hoàn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tiền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Ứng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dụng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mobile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widget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còn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có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thể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tối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ưu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thêm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về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trải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nghiệm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4900"/>
              </a:lnSpc>
              <a:spcBef>
                <a:spcPct val="0"/>
              </a:spcBef>
              <a:spcAft>
                <a:spcPts val="1200"/>
              </a:spcAft>
            </a:pPr>
            <a:endParaRPr lang="en-US" sz="3500" dirty="0">
              <a:solidFill>
                <a:srgbClr val="1F202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26193"/>
            <a:ext cx="807173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c. Hướng phát triển: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1995" y="536724"/>
            <a:ext cx="12358106" cy="837476"/>
            <a:chOff x="0" y="0"/>
            <a:chExt cx="16477475" cy="111663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58178" cy="1116635"/>
              <a:chOff x="0" y="0"/>
              <a:chExt cx="770249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77024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0249" h="812800">
                    <a:moveTo>
                      <a:pt x="385125" y="0"/>
                    </a:moveTo>
                    <a:cubicBezTo>
                      <a:pt x="172426" y="0"/>
                      <a:pt x="0" y="181951"/>
                      <a:pt x="0" y="406400"/>
                    </a:cubicBezTo>
                    <a:cubicBezTo>
                      <a:pt x="0" y="630849"/>
                      <a:pt x="172426" y="812800"/>
                      <a:pt x="385125" y="812800"/>
                    </a:cubicBezTo>
                    <a:cubicBezTo>
                      <a:pt x="597823" y="812800"/>
                      <a:pt x="770249" y="630849"/>
                      <a:pt x="770249" y="406400"/>
                    </a:cubicBezTo>
                    <a:cubicBezTo>
                      <a:pt x="770249" y="181951"/>
                      <a:pt x="597823" y="0"/>
                      <a:pt x="385125" y="0"/>
                    </a:cubicBezTo>
                    <a:close/>
                  </a:path>
                </a:pathLst>
              </a:custGeom>
              <a:solidFill>
                <a:srgbClr val="335A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2211" y="28575"/>
                <a:ext cx="625827" cy="708025"/>
              </a:xfrm>
              <a:prstGeom prst="rect">
                <a:avLst/>
              </a:prstGeom>
            </p:spPr>
            <p:txBody>
              <a:bodyPr lIns="37479" tIns="37479" rIns="37479" bIns="37479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282243" y="128634"/>
              <a:ext cx="15195232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Sơ đồ kiến trúc tổng thể hệ thống ChatDesk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1798" y="289421"/>
              <a:ext cx="774581" cy="490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3"/>
                </a:lnSpc>
                <a:spcBef>
                  <a:spcPct val="0"/>
                </a:spcBef>
              </a:pPr>
              <a:r>
                <a:rPr lang="en-US" sz="2224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4.2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675087"/>
            <a:ext cx="16381719" cy="293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Mở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rộng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kênh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tích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hợp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các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nền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tảng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phổ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biến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như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Shopee, Lazada,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Tiktok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Nâng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cấp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hiểu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quả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sử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dụng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AI Chatbot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AI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trợ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nội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bộ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spcAft>
                <a:spcPts val="1200"/>
              </a:spcAft>
              <a:buFont typeface="Arial"/>
              <a:buChar char="•"/>
            </a:pP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Mã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hóa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tin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nhắn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nhạy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500" dirty="0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cảm</a:t>
            </a:r>
            <a:r>
              <a:rPr lang="en-US" sz="35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4900"/>
              </a:lnSpc>
              <a:spcBef>
                <a:spcPct val="0"/>
              </a:spcBef>
              <a:spcAft>
                <a:spcPts val="1200"/>
              </a:spcAft>
            </a:pPr>
            <a:endParaRPr lang="en-US" sz="3500" dirty="0">
              <a:solidFill>
                <a:srgbClr val="1F202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48802" y="7301218"/>
            <a:ext cx="20585603" cy="5264356"/>
            <a:chOff x="0" y="0"/>
            <a:chExt cx="4274726" cy="10931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1093176"/>
            </a:xfrm>
            <a:custGeom>
              <a:avLst/>
              <a:gdLst/>
              <a:ahLst/>
              <a:cxnLst/>
              <a:rect l="l" t="t" r="r" b="b"/>
              <a:pathLst>
                <a:path w="4274726" h="1093176">
                  <a:moveTo>
                    <a:pt x="2137363" y="0"/>
                  </a:moveTo>
                  <a:cubicBezTo>
                    <a:pt x="956930" y="0"/>
                    <a:pt x="0" y="244716"/>
                    <a:pt x="0" y="546588"/>
                  </a:cubicBezTo>
                  <a:cubicBezTo>
                    <a:pt x="0" y="848460"/>
                    <a:pt x="956930" y="1093176"/>
                    <a:pt x="2137363" y="1093176"/>
                  </a:cubicBezTo>
                  <a:cubicBezTo>
                    <a:pt x="3317796" y="1093176"/>
                    <a:pt x="4274726" y="848460"/>
                    <a:pt x="4274726" y="546588"/>
                  </a:cubicBezTo>
                  <a:cubicBezTo>
                    <a:pt x="4274726" y="244716"/>
                    <a:pt x="3317796" y="0"/>
                    <a:pt x="2137363" y="0"/>
                  </a:cubicBezTo>
                  <a:close/>
                </a:path>
              </a:pathLst>
            </a:custGeom>
            <a:solidFill>
              <a:srgbClr val="335A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0756" y="64385"/>
              <a:ext cx="3473215" cy="926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5319" y="377431"/>
            <a:ext cx="2392002" cy="497506"/>
            <a:chOff x="0" y="0"/>
            <a:chExt cx="3189336" cy="6633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3341" cy="663341"/>
            </a:xfrm>
            <a:custGeom>
              <a:avLst/>
              <a:gdLst/>
              <a:ahLst/>
              <a:cxnLst/>
              <a:rect l="l" t="t" r="r" b="b"/>
              <a:pathLst>
                <a:path w="663341" h="663341">
                  <a:moveTo>
                    <a:pt x="0" y="0"/>
                  </a:moveTo>
                  <a:lnTo>
                    <a:pt x="663341" y="0"/>
                  </a:lnTo>
                  <a:lnTo>
                    <a:pt x="663341" y="663341"/>
                  </a:lnTo>
                  <a:lnTo>
                    <a:pt x="0" y="663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7984" y="156067"/>
              <a:ext cx="2321352" cy="321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57"/>
                </a:lnSpc>
                <a:spcBef>
                  <a:spcPct val="0"/>
                </a:spcBef>
              </a:pPr>
              <a:r>
                <a:rPr lang="en-US" sz="1469" b="1" u="sng" dirty="0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3" tooltip="https://drive.google.com/drive/folders/1mbwKd_GUPrzOsvYDGJ6pnhkF9rXS1Gkp"/>
                </a:rPr>
                <a:t>Play Video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dirty="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1076" y="1103487"/>
            <a:ext cx="15905845" cy="402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dirty="0">
                <a:solidFill>
                  <a:srgbClr val="335ACF"/>
                </a:solidFill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  <a:sym typeface="Poppins Bold"/>
              </a:rPr>
              <a:t>EM XIN TRÂN TRỌNG CẢM ƠN </a:t>
            </a:r>
          </a:p>
          <a:p>
            <a:pPr algn="ctr">
              <a:lnSpc>
                <a:spcPts val="10500"/>
              </a:lnSpc>
            </a:pPr>
            <a:r>
              <a:rPr lang="en-US" sz="7500" b="1" dirty="0">
                <a:solidFill>
                  <a:srgbClr val="335ACF"/>
                </a:solidFill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  <a:sym typeface="Poppins Bold"/>
              </a:rPr>
              <a:t>THẦY CÔ VÀ CÁC BẠN ĐÃ CHÚ Ý </a:t>
            </a:r>
          </a:p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b="1" dirty="0">
                <a:solidFill>
                  <a:srgbClr val="335ACF"/>
                </a:solidFill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  <a:sym typeface="Poppins Bold"/>
              </a:rPr>
              <a:t>LẮNG NGHE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7377435" y="5018004"/>
            <a:ext cx="3475318" cy="6876514"/>
            <a:chOff x="0" y="0"/>
            <a:chExt cx="2620010" cy="5184140"/>
          </a:xfrm>
        </p:grpSpPr>
        <p:sp>
          <p:nvSpPr>
            <p:cNvPr id="19" name="Freeform 19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8" r="-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5009655" y="5791586"/>
            <a:ext cx="2919979" cy="5777681"/>
            <a:chOff x="0" y="0"/>
            <a:chExt cx="2620010" cy="5184140"/>
          </a:xfrm>
        </p:grpSpPr>
        <p:sp>
          <p:nvSpPr>
            <p:cNvPr id="29" name="Freeform 29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12" r="-1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>
            <a:grpSpLocks noChangeAspect="1"/>
          </p:cNvGrpSpPr>
          <p:nvPr/>
        </p:nvGrpSpPr>
        <p:grpSpPr>
          <a:xfrm>
            <a:off x="3314894" y="7124621"/>
            <a:ext cx="2246277" cy="4444645"/>
            <a:chOff x="0" y="0"/>
            <a:chExt cx="2620010" cy="5184140"/>
          </a:xfrm>
        </p:grpSpPr>
        <p:sp>
          <p:nvSpPr>
            <p:cNvPr id="39" name="Freeform 39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112" r="-1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>
            <a:grpSpLocks noChangeAspect="1"/>
          </p:cNvGrpSpPr>
          <p:nvPr/>
        </p:nvGrpSpPr>
        <p:grpSpPr>
          <a:xfrm>
            <a:off x="10300554" y="5791586"/>
            <a:ext cx="2919979" cy="5777681"/>
            <a:chOff x="0" y="0"/>
            <a:chExt cx="2620010" cy="5184140"/>
          </a:xfrm>
        </p:grpSpPr>
        <p:sp>
          <p:nvSpPr>
            <p:cNvPr id="49" name="Freeform 49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112" r="-1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>
            <a:grpSpLocks noChangeAspect="1"/>
          </p:cNvGrpSpPr>
          <p:nvPr/>
        </p:nvGrpSpPr>
        <p:grpSpPr>
          <a:xfrm>
            <a:off x="12669017" y="7124621"/>
            <a:ext cx="2246277" cy="4444645"/>
            <a:chOff x="0" y="0"/>
            <a:chExt cx="2620010" cy="5184140"/>
          </a:xfrm>
        </p:grpSpPr>
        <p:sp>
          <p:nvSpPr>
            <p:cNvPr id="59" name="Freeform 59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112" r="-1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3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5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6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1898530" y="5176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1171</Words>
  <Application>Microsoft Office PowerPoint</Application>
  <PresentationFormat>Custom</PresentationFormat>
  <Paragraphs>149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Open Sans</vt:lpstr>
      <vt:lpstr>Open Sans Italics</vt:lpstr>
      <vt:lpstr>Arial</vt:lpstr>
      <vt:lpstr>Open Sans Bold</vt:lpstr>
      <vt:lpstr>Calibri</vt:lpstr>
      <vt:lpstr>Open Sans 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đồ án 2026</dc:title>
  <cp:lastModifiedBy>Nguyen Huy</cp:lastModifiedBy>
  <cp:revision>11</cp:revision>
  <dcterms:created xsi:type="dcterms:W3CDTF">2006-08-16T00:00:00Z</dcterms:created>
  <dcterms:modified xsi:type="dcterms:W3CDTF">2026-06-13T07:59:36Z</dcterms:modified>
  <dc:identifier>DAHMU53P7Rg</dc:identifier>
</cp:coreProperties>
</file>